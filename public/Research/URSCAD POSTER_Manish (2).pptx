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3"/>
  </p:notesMasterIdLst>
  <p:sldIdLst>
    <p:sldId id="256" r:id="rId2"/>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udent" initials="S" lastIdx="6" clrIdx="0">
    <p:extLst>
      <p:ext uri="{19B8F6BF-5375-455C-9EA6-DF929625EA0E}">
        <p15:presenceInfo xmlns:p15="http://schemas.microsoft.com/office/powerpoint/2012/main" userId="Studen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610"/>
    <a:srgbClr val="0432FF"/>
    <a:srgbClr val="C6D2E2"/>
    <a:srgbClr val="FEEB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58" autoAdjust="0"/>
    <p:restoredTop sz="94507"/>
  </p:normalViewPr>
  <p:slideViewPr>
    <p:cSldViewPr snapToGrid="0" snapToObjects="1">
      <p:cViewPr varScale="1">
        <p:scale>
          <a:sx n="24" d="100"/>
          <a:sy n="24" d="100"/>
        </p:scale>
        <p:origin x="2000" y="232"/>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4CDB9B-2EA1-0A4E-8D95-4EEF60257365}" type="datetimeFigureOut">
              <a:rPr lang="en-US" smtClean="0"/>
              <a:t>3/27/24</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1CE39B-C3F7-F24F-8A84-15FB32E465FE}" type="slidenum">
              <a:rPr lang="en-US" smtClean="0"/>
              <a:t>‹#›</a:t>
            </a:fld>
            <a:endParaRPr lang="en-US" dirty="0"/>
          </a:p>
        </p:txBody>
      </p:sp>
    </p:spTree>
    <p:extLst>
      <p:ext uri="{BB962C8B-B14F-4D97-AF65-F5344CB8AC3E}">
        <p14:creationId xmlns:p14="http://schemas.microsoft.com/office/powerpoint/2010/main" val="1071342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1CE39B-C3F7-F24F-8A84-15FB32E465FE}" type="slidenum">
              <a:rPr lang="en-US" smtClean="0"/>
              <a:t>1</a:t>
            </a:fld>
            <a:endParaRPr lang="en-US" dirty="0"/>
          </a:p>
        </p:txBody>
      </p:sp>
    </p:spTree>
    <p:extLst>
      <p:ext uri="{BB962C8B-B14F-4D97-AF65-F5344CB8AC3E}">
        <p14:creationId xmlns:p14="http://schemas.microsoft.com/office/powerpoint/2010/main" val="4283112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0" y="5387342"/>
            <a:ext cx="32918400" cy="11460480"/>
          </a:xfrm>
        </p:spPr>
        <p:txBody>
          <a:bodyPr anchor="b"/>
          <a:lstStyle>
            <a:lvl1pPr algn="ctr">
              <a:defRPr sz="21599"/>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8640"/>
            </a:lvl1pPr>
            <a:lvl2pPr marL="1645767" indent="0" algn="ctr">
              <a:buNone/>
              <a:defRPr sz="7200"/>
            </a:lvl2pPr>
            <a:lvl3pPr marL="3291533" indent="0" algn="ctr">
              <a:buNone/>
              <a:defRPr sz="6480"/>
            </a:lvl3pPr>
            <a:lvl4pPr marL="4937301" indent="0" algn="ctr">
              <a:buNone/>
              <a:defRPr sz="5760"/>
            </a:lvl4pPr>
            <a:lvl5pPr marL="6583069" indent="0" algn="ctr">
              <a:buNone/>
              <a:defRPr sz="5760"/>
            </a:lvl5pPr>
            <a:lvl6pPr marL="8228836" indent="0" algn="ctr">
              <a:buNone/>
              <a:defRPr sz="5760"/>
            </a:lvl6pPr>
            <a:lvl7pPr marL="9874604" indent="0" algn="ctr">
              <a:buNone/>
              <a:defRPr sz="5760"/>
            </a:lvl7pPr>
            <a:lvl8pPr marL="11520370" indent="0" algn="ctr">
              <a:buNone/>
              <a:defRPr sz="5760"/>
            </a:lvl8pPr>
            <a:lvl9pPr marL="13166138"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ED96E5B-8495-4C4A-AB9B-70EC38B01A72}" type="datetimeFigureOut">
              <a:rPr lang="en-US" smtClean="0"/>
              <a:t>3/27/24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E22B00-5B96-0D42-BDA2-9AC7B8D71230}" type="slidenum">
              <a:rPr lang="en-US" smtClean="0"/>
              <a:t>‹#›</a:t>
            </a:fld>
            <a:endParaRPr lang="en-US" dirty="0"/>
          </a:p>
        </p:txBody>
      </p:sp>
    </p:spTree>
    <p:extLst>
      <p:ext uri="{BB962C8B-B14F-4D97-AF65-F5344CB8AC3E}">
        <p14:creationId xmlns:p14="http://schemas.microsoft.com/office/powerpoint/2010/main" val="3734629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D96E5B-8495-4C4A-AB9B-70EC38B01A72}" type="datetimeFigureOut">
              <a:rPr lang="en-US" smtClean="0"/>
              <a:t>3/27/24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E22B00-5B96-0D42-BDA2-9AC7B8D71230}" type="slidenum">
              <a:rPr lang="en-US" smtClean="0"/>
              <a:t>‹#›</a:t>
            </a:fld>
            <a:endParaRPr lang="en-US" dirty="0"/>
          </a:p>
        </p:txBody>
      </p:sp>
    </p:spTree>
    <p:extLst>
      <p:ext uri="{BB962C8B-B14F-4D97-AF65-F5344CB8AC3E}">
        <p14:creationId xmlns:p14="http://schemas.microsoft.com/office/powerpoint/2010/main" val="110602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0" y="8206745"/>
            <a:ext cx="37856160" cy="13693138"/>
          </a:xfrm>
        </p:spPr>
        <p:txBody>
          <a:bodyPr anchor="b"/>
          <a:lstStyle>
            <a:lvl1pPr>
              <a:defRPr sz="21599"/>
            </a:lvl1pPr>
          </a:lstStyle>
          <a:p>
            <a:r>
              <a:rPr lang="en-US"/>
              <a:t>Click to edit Master title style</a:t>
            </a:r>
            <a:endParaRPr lang="en-US" dirty="0"/>
          </a:p>
        </p:txBody>
      </p:sp>
      <p:sp>
        <p:nvSpPr>
          <p:cNvPr id="3" name="Text Placeholder 2"/>
          <p:cNvSpPr>
            <a:spLocks noGrp="1"/>
          </p:cNvSpPr>
          <p:nvPr>
            <p:ph type="body" idx="1"/>
          </p:nvPr>
        </p:nvSpPr>
        <p:spPr>
          <a:xfrm>
            <a:off x="2994660" y="22029425"/>
            <a:ext cx="37856160" cy="7200898"/>
          </a:xfrm>
        </p:spPr>
        <p:txBody>
          <a:bodyPr/>
          <a:lstStyle>
            <a:lvl1pPr marL="0" indent="0">
              <a:buNone/>
              <a:defRPr sz="8640">
                <a:solidFill>
                  <a:schemeClr val="tx1">
                    <a:tint val="75000"/>
                  </a:schemeClr>
                </a:solidFill>
              </a:defRPr>
            </a:lvl1pPr>
            <a:lvl2pPr marL="1645767" indent="0">
              <a:buNone/>
              <a:defRPr sz="7200">
                <a:solidFill>
                  <a:schemeClr val="tx1">
                    <a:tint val="75000"/>
                  </a:schemeClr>
                </a:solidFill>
              </a:defRPr>
            </a:lvl2pPr>
            <a:lvl3pPr marL="3291533" indent="0">
              <a:buNone/>
              <a:defRPr sz="6480">
                <a:solidFill>
                  <a:schemeClr val="tx1">
                    <a:tint val="75000"/>
                  </a:schemeClr>
                </a:solidFill>
              </a:defRPr>
            </a:lvl3pPr>
            <a:lvl4pPr marL="4937301" indent="0">
              <a:buNone/>
              <a:defRPr sz="5760">
                <a:solidFill>
                  <a:schemeClr val="tx1">
                    <a:tint val="75000"/>
                  </a:schemeClr>
                </a:solidFill>
              </a:defRPr>
            </a:lvl4pPr>
            <a:lvl5pPr marL="6583069" indent="0">
              <a:buNone/>
              <a:defRPr sz="5760">
                <a:solidFill>
                  <a:schemeClr val="tx1">
                    <a:tint val="75000"/>
                  </a:schemeClr>
                </a:solidFill>
              </a:defRPr>
            </a:lvl5pPr>
            <a:lvl6pPr marL="8228836" indent="0">
              <a:buNone/>
              <a:defRPr sz="5760">
                <a:solidFill>
                  <a:schemeClr val="tx1">
                    <a:tint val="75000"/>
                  </a:schemeClr>
                </a:solidFill>
              </a:defRPr>
            </a:lvl6pPr>
            <a:lvl7pPr marL="9874604" indent="0">
              <a:buNone/>
              <a:defRPr sz="5760">
                <a:solidFill>
                  <a:schemeClr val="tx1">
                    <a:tint val="75000"/>
                  </a:schemeClr>
                </a:solidFill>
              </a:defRPr>
            </a:lvl7pPr>
            <a:lvl8pPr marL="11520370" indent="0">
              <a:buNone/>
              <a:defRPr sz="5760">
                <a:solidFill>
                  <a:schemeClr val="tx1">
                    <a:tint val="75000"/>
                  </a:schemeClr>
                </a:solidFill>
              </a:defRPr>
            </a:lvl8pPr>
            <a:lvl9pPr marL="13166138" indent="0">
              <a:buNone/>
              <a:defRPr sz="5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D96E5B-8495-4C4A-AB9B-70EC38B01A72}" type="datetimeFigureOut">
              <a:rPr lang="en-US" smtClean="0"/>
              <a:t>3/27/24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E22B00-5B96-0D42-BDA2-9AC7B8D71230}" type="slidenum">
              <a:rPr lang="en-US" smtClean="0"/>
              <a:t>‹#›</a:t>
            </a:fld>
            <a:endParaRPr lang="en-US" dirty="0"/>
          </a:p>
        </p:txBody>
      </p:sp>
    </p:spTree>
    <p:extLst>
      <p:ext uri="{BB962C8B-B14F-4D97-AF65-F5344CB8AC3E}">
        <p14:creationId xmlns:p14="http://schemas.microsoft.com/office/powerpoint/2010/main" val="3990230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D96E5B-8495-4C4A-AB9B-70EC38B01A72}" type="datetimeFigureOut">
              <a:rPr lang="en-US" smtClean="0"/>
              <a:t>3/27/24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E22B00-5B96-0D42-BDA2-9AC7B8D71230}" type="slidenum">
              <a:rPr lang="en-US" smtClean="0"/>
              <a:t>‹#›</a:t>
            </a:fld>
            <a:endParaRPr lang="en-US" dirty="0"/>
          </a:p>
        </p:txBody>
      </p:sp>
    </p:spTree>
    <p:extLst>
      <p:ext uri="{BB962C8B-B14F-4D97-AF65-F5344CB8AC3E}">
        <p14:creationId xmlns:p14="http://schemas.microsoft.com/office/powerpoint/2010/main" val="342264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3"/>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1" y="8069582"/>
            <a:ext cx="18568033" cy="3954778"/>
          </a:xfrm>
        </p:spPr>
        <p:txBody>
          <a:bodyPr anchor="b"/>
          <a:lstStyle>
            <a:lvl1pPr marL="0" indent="0">
              <a:buNone/>
              <a:defRPr sz="8640" b="1"/>
            </a:lvl1pPr>
            <a:lvl2pPr marL="1645767" indent="0">
              <a:buNone/>
              <a:defRPr sz="7200" b="1"/>
            </a:lvl2pPr>
            <a:lvl3pPr marL="3291533" indent="0">
              <a:buNone/>
              <a:defRPr sz="6480" b="1"/>
            </a:lvl3pPr>
            <a:lvl4pPr marL="4937301" indent="0">
              <a:buNone/>
              <a:defRPr sz="5760" b="1"/>
            </a:lvl4pPr>
            <a:lvl5pPr marL="6583069" indent="0">
              <a:buNone/>
              <a:defRPr sz="5760" b="1"/>
            </a:lvl5pPr>
            <a:lvl6pPr marL="8228836" indent="0">
              <a:buNone/>
              <a:defRPr sz="5760" b="1"/>
            </a:lvl6pPr>
            <a:lvl7pPr marL="9874604" indent="0">
              <a:buNone/>
              <a:defRPr sz="5760" b="1"/>
            </a:lvl7pPr>
            <a:lvl8pPr marL="11520370" indent="0">
              <a:buNone/>
              <a:defRPr sz="5760" b="1"/>
            </a:lvl8pPr>
            <a:lvl9pPr marL="13166138" indent="0">
              <a:buNone/>
              <a:defRPr sz="5760" b="1"/>
            </a:lvl9pPr>
          </a:lstStyle>
          <a:p>
            <a:pPr lvl="0"/>
            <a:r>
              <a:rPr lang="en-US"/>
              <a:t>Click to edit Master text styles</a:t>
            </a:r>
          </a:p>
        </p:txBody>
      </p:sp>
      <p:sp>
        <p:nvSpPr>
          <p:cNvPr id="4" name="Content Placeholder 3"/>
          <p:cNvSpPr>
            <a:spLocks noGrp="1"/>
          </p:cNvSpPr>
          <p:nvPr>
            <p:ph sz="half" idx="2"/>
          </p:nvPr>
        </p:nvSpPr>
        <p:spPr>
          <a:xfrm>
            <a:off x="3023241" y="12024360"/>
            <a:ext cx="18568033"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8640" b="1"/>
            </a:lvl1pPr>
            <a:lvl2pPr marL="1645767" indent="0">
              <a:buNone/>
              <a:defRPr sz="7200" b="1"/>
            </a:lvl2pPr>
            <a:lvl3pPr marL="3291533" indent="0">
              <a:buNone/>
              <a:defRPr sz="6480" b="1"/>
            </a:lvl3pPr>
            <a:lvl4pPr marL="4937301" indent="0">
              <a:buNone/>
              <a:defRPr sz="5760" b="1"/>
            </a:lvl4pPr>
            <a:lvl5pPr marL="6583069" indent="0">
              <a:buNone/>
              <a:defRPr sz="5760" b="1"/>
            </a:lvl5pPr>
            <a:lvl6pPr marL="8228836" indent="0">
              <a:buNone/>
              <a:defRPr sz="5760" b="1"/>
            </a:lvl6pPr>
            <a:lvl7pPr marL="9874604" indent="0">
              <a:buNone/>
              <a:defRPr sz="5760" b="1"/>
            </a:lvl7pPr>
            <a:lvl8pPr marL="11520370" indent="0">
              <a:buNone/>
              <a:defRPr sz="5760" b="1"/>
            </a:lvl8pPr>
            <a:lvl9pPr marL="13166138" indent="0">
              <a:buNone/>
              <a:defRPr sz="576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D96E5B-8495-4C4A-AB9B-70EC38B01A72}" type="datetimeFigureOut">
              <a:rPr lang="en-US" smtClean="0"/>
              <a:t>3/27/24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E22B00-5B96-0D42-BDA2-9AC7B8D71230}" type="slidenum">
              <a:rPr lang="en-US" smtClean="0"/>
              <a:t>‹#›</a:t>
            </a:fld>
            <a:endParaRPr lang="en-US" dirty="0"/>
          </a:p>
        </p:txBody>
      </p:sp>
    </p:spTree>
    <p:extLst>
      <p:ext uri="{BB962C8B-B14F-4D97-AF65-F5344CB8AC3E}">
        <p14:creationId xmlns:p14="http://schemas.microsoft.com/office/powerpoint/2010/main" val="1146253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D96E5B-8495-4C4A-AB9B-70EC38B01A72}" type="datetimeFigureOut">
              <a:rPr lang="en-US" smtClean="0"/>
              <a:t>3/27/24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E22B00-5B96-0D42-BDA2-9AC7B8D71230}" type="slidenum">
              <a:rPr lang="en-US" smtClean="0"/>
              <a:t>‹#›</a:t>
            </a:fld>
            <a:endParaRPr lang="en-US" dirty="0"/>
          </a:p>
        </p:txBody>
      </p:sp>
    </p:spTree>
    <p:extLst>
      <p:ext uri="{BB962C8B-B14F-4D97-AF65-F5344CB8AC3E}">
        <p14:creationId xmlns:p14="http://schemas.microsoft.com/office/powerpoint/2010/main" val="2568312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D96E5B-8495-4C4A-AB9B-70EC38B01A72}" type="datetimeFigureOut">
              <a:rPr lang="en-US" smtClean="0"/>
              <a:t>3/27/24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E22B00-5B96-0D42-BDA2-9AC7B8D71230}" type="slidenum">
              <a:rPr lang="en-US" smtClean="0"/>
              <a:t>‹#›</a:t>
            </a:fld>
            <a:endParaRPr lang="en-US" dirty="0"/>
          </a:p>
        </p:txBody>
      </p:sp>
    </p:spTree>
    <p:extLst>
      <p:ext uri="{BB962C8B-B14F-4D97-AF65-F5344CB8AC3E}">
        <p14:creationId xmlns:p14="http://schemas.microsoft.com/office/powerpoint/2010/main" val="2860055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41" y="2194560"/>
            <a:ext cx="14156053" cy="7680960"/>
          </a:xfrm>
        </p:spPr>
        <p:txBody>
          <a:bodyPr anchor="b"/>
          <a:lstStyle>
            <a:lvl1pPr>
              <a:defRPr sz="11519"/>
            </a:lvl1pPr>
          </a:lstStyle>
          <a:p>
            <a:r>
              <a:rPr lang="en-US"/>
              <a:t>Click to edit Master title style</a:t>
            </a:r>
            <a:endParaRPr lang="en-US" dirty="0"/>
          </a:p>
        </p:txBody>
      </p:sp>
      <p:sp>
        <p:nvSpPr>
          <p:cNvPr id="3" name="Content Placeholder 2"/>
          <p:cNvSpPr>
            <a:spLocks noGrp="1"/>
          </p:cNvSpPr>
          <p:nvPr>
            <p:ph idx="1"/>
          </p:nvPr>
        </p:nvSpPr>
        <p:spPr>
          <a:xfrm>
            <a:off x="18659477" y="4739642"/>
            <a:ext cx="22219920" cy="23393400"/>
          </a:xfrm>
        </p:spPr>
        <p:txBody>
          <a:bodyPr/>
          <a:lstStyle>
            <a:lvl1pPr>
              <a:defRPr sz="11519"/>
            </a:lvl1pPr>
            <a:lvl2pPr>
              <a:defRPr sz="10079"/>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41" y="9875520"/>
            <a:ext cx="14156053" cy="18295622"/>
          </a:xfrm>
        </p:spPr>
        <p:txBody>
          <a:bodyPr/>
          <a:lstStyle>
            <a:lvl1pPr marL="0" indent="0">
              <a:buNone/>
              <a:defRPr sz="5760"/>
            </a:lvl1pPr>
            <a:lvl2pPr marL="1645767" indent="0">
              <a:buNone/>
              <a:defRPr sz="5040"/>
            </a:lvl2pPr>
            <a:lvl3pPr marL="3291533" indent="0">
              <a:buNone/>
              <a:defRPr sz="4320"/>
            </a:lvl3pPr>
            <a:lvl4pPr marL="4937301" indent="0">
              <a:buNone/>
              <a:defRPr sz="3600"/>
            </a:lvl4pPr>
            <a:lvl5pPr marL="6583069" indent="0">
              <a:buNone/>
              <a:defRPr sz="3600"/>
            </a:lvl5pPr>
            <a:lvl6pPr marL="8228836" indent="0">
              <a:buNone/>
              <a:defRPr sz="3600"/>
            </a:lvl6pPr>
            <a:lvl7pPr marL="9874604" indent="0">
              <a:buNone/>
              <a:defRPr sz="3600"/>
            </a:lvl7pPr>
            <a:lvl8pPr marL="11520370" indent="0">
              <a:buNone/>
              <a:defRPr sz="3600"/>
            </a:lvl8pPr>
            <a:lvl9pPr marL="13166138"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2ED96E5B-8495-4C4A-AB9B-70EC38B01A72}" type="datetimeFigureOut">
              <a:rPr lang="en-US" smtClean="0"/>
              <a:t>3/27/24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E22B00-5B96-0D42-BDA2-9AC7B8D71230}" type="slidenum">
              <a:rPr lang="en-US" smtClean="0"/>
              <a:t>‹#›</a:t>
            </a:fld>
            <a:endParaRPr lang="en-US" dirty="0"/>
          </a:p>
        </p:txBody>
      </p:sp>
    </p:spTree>
    <p:extLst>
      <p:ext uri="{BB962C8B-B14F-4D97-AF65-F5344CB8AC3E}">
        <p14:creationId xmlns:p14="http://schemas.microsoft.com/office/powerpoint/2010/main" val="2396240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41" y="2194560"/>
            <a:ext cx="14156053" cy="7680960"/>
          </a:xfrm>
        </p:spPr>
        <p:txBody>
          <a:bodyPr anchor="b"/>
          <a:lstStyle>
            <a:lvl1pPr>
              <a:defRPr sz="11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2"/>
            <a:ext cx="22219920" cy="23393400"/>
          </a:xfrm>
        </p:spPr>
        <p:txBody>
          <a:bodyPr anchor="t"/>
          <a:lstStyle>
            <a:lvl1pPr marL="0" indent="0">
              <a:buNone/>
              <a:defRPr sz="11519"/>
            </a:lvl1pPr>
            <a:lvl2pPr marL="1645767" indent="0">
              <a:buNone/>
              <a:defRPr sz="10079"/>
            </a:lvl2pPr>
            <a:lvl3pPr marL="3291533" indent="0">
              <a:buNone/>
              <a:defRPr sz="8640"/>
            </a:lvl3pPr>
            <a:lvl4pPr marL="4937301" indent="0">
              <a:buNone/>
              <a:defRPr sz="7200"/>
            </a:lvl4pPr>
            <a:lvl5pPr marL="6583069" indent="0">
              <a:buNone/>
              <a:defRPr sz="7200"/>
            </a:lvl5pPr>
            <a:lvl6pPr marL="8228836" indent="0">
              <a:buNone/>
              <a:defRPr sz="7200"/>
            </a:lvl6pPr>
            <a:lvl7pPr marL="9874604" indent="0">
              <a:buNone/>
              <a:defRPr sz="7200"/>
            </a:lvl7pPr>
            <a:lvl8pPr marL="11520370" indent="0">
              <a:buNone/>
              <a:defRPr sz="7200"/>
            </a:lvl8pPr>
            <a:lvl9pPr marL="13166138"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3023241" y="9875520"/>
            <a:ext cx="14156053" cy="18295622"/>
          </a:xfrm>
        </p:spPr>
        <p:txBody>
          <a:bodyPr/>
          <a:lstStyle>
            <a:lvl1pPr marL="0" indent="0">
              <a:buNone/>
              <a:defRPr sz="5760"/>
            </a:lvl1pPr>
            <a:lvl2pPr marL="1645767" indent="0">
              <a:buNone/>
              <a:defRPr sz="5040"/>
            </a:lvl2pPr>
            <a:lvl3pPr marL="3291533" indent="0">
              <a:buNone/>
              <a:defRPr sz="4320"/>
            </a:lvl3pPr>
            <a:lvl4pPr marL="4937301" indent="0">
              <a:buNone/>
              <a:defRPr sz="3600"/>
            </a:lvl4pPr>
            <a:lvl5pPr marL="6583069" indent="0">
              <a:buNone/>
              <a:defRPr sz="3600"/>
            </a:lvl5pPr>
            <a:lvl6pPr marL="8228836" indent="0">
              <a:buNone/>
              <a:defRPr sz="3600"/>
            </a:lvl6pPr>
            <a:lvl7pPr marL="9874604" indent="0">
              <a:buNone/>
              <a:defRPr sz="3600"/>
            </a:lvl7pPr>
            <a:lvl8pPr marL="11520370" indent="0">
              <a:buNone/>
              <a:defRPr sz="3600"/>
            </a:lvl8pPr>
            <a:lvl9pPr marL="13166138"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2ED96E5B-8495-4C4A-AB9B-70EC38B01A72}" type="datetimeFigureOut">
              <a:rPr lang="en-US" smtClean="0"/>
              <a:t>3/27/24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E22B00-5B96-0D42-BDA2-9AC7B8D71230}" type="slidenum">
              <a:rPr lang="en-US" smtClean="0"/>
              <a:t>‹#›</a:t>
            </a:fld>
            <a:endParaRPr lang="en-US" dirty="0"/>
          </a:p>
        </p:txBody>
      </p:sp>
    </p:spTree>
    <p:extLst>
      <p:ext uri="{BB962C8B-B14F-4D97-AF65-F5344CB8AC3E}">
        <p14:creationId xmlns:p14="http://schemas.microsoft.com/office/powerpoint/2010/main" val="1871394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D96E5B-8495-4C4A-AB9B-70EC38B01A72}" type="datetimeFigureOut">
              <a:rPr lang="en-US" smtClean="0"/>
              <a:t>3/27/24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E22B00-5B96-0D42-BDA2-9AC7B8D71230}" type="slidenum">
              <a:rPr lang="en-US" smtClean="0"/>
              <a:t>‹#›</a:t>
            </a:fld>
            <a:endParaRPr lang="en-US" dirty="0"/>
          </a:p>
        </p:txBody>
      </p:sp>
    </p:spTree>
    <p:extLst>
      <p:ext uri="{BB962C8B-B14F-4D97-AF65-F5344CB8AC3E}">
        <p14:creationId xmlns:p14="http://schemas.microsoft.com/office/powerpoint/2010/main" val="1981472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0"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0"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D96E5B-8495-4C4A-AB9B-70EC38B01A72}" type="datetimeFigureOut">
              <a:rPr lang="en-US" smtClean="0"/>
              <a:t>3/27/24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E22B00-5B96-0D42-BDA2-9AC7B8D71230}" type="slidenum">
              <a:rPr lang="en-US" smtClean="0"/>
              <a:t>‹#›</a:t>
            </a:fld>
            <a:endParaRPr lang="en-US" dirty="0"/>
          </a:p>
        </p:txBody>
      </p:sp>
    </p:spTree>
    <p:extLst>
      <p:ext uri="{BB962C8B-B14F-4D97-AF65-F5344CB8AC3E}">
        <p14:creationId xmlns:p14="http://schemas.microsoft.com/office/powerpoint/2010/main" val="943744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3"/>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2"/>
            <a:ext cx="9875520" cy="1752600"/>
          </a:xfrm>
          <a:prstGeom prst="rect">
            <a:avLst/>
          </a:prstGeom>
        </p:spPr>
        <p:txBody>
          <a:bodyPr vert="horz" lIns="91440" tIns="45720" rIns="91440" bIns="45720" rtlCol="0" anchor="ctr"/>
          <a:lstStyle>
            <a:lvl1pPr algn="l">
              <a:defRPr sz="4320">
                <a:solidFill>
                  <a:schemeClr val="tx1">
                    <a:tint val="75000"/>
                  </a:schemeClr>
                </a:solidFill>
              </a:defRPr>
            </a:lvl1pPr>
          </a:lstStyle>
          <a:p>
            <a:fld id="{2ED96E5B-8495-4C4A-AB9B-70EC38B01A72}" type="datetimeFigureOut">
              <a:rPr lang="en-US" smtClean="0"/>
              <a:t>3/27/24</a:t>
            </a:fld>
            <a:endParaRPr lang="en-US" dirty="0"/>
          </a:p>
        </p:txBody>
      </p:sp>
      <p:sp>
        <p:nvSpPr>
          <p:cNvPr id="5" name="Footer Placeholder 4"/>
          <p:cNvSpPr>
            <a:spLocks noGrp="1"/>
          </p:cNvSpPr>
          <p:nvPr>
            <p:ph type="ftr" sz="quarter" idx="3"/>
          </p:nvPr>
        </p:nvSpPr>
        <p:spPr>
          <a:xfrm>
            <a:off x="14538960" y="30510482"/>
            <a:ext cx="14813280" cy="17526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0998160" y="30510482"/>
            <a:ext cx="9875520" cy="1752600"/>
          </a:xfrm>
          <a:prstGeom prst="rect">
            <a:avLst/>
          </a:prstGeom>
        </p:spPr>
        <p:txBody>
          <a:bodyPr vert="horz" lIns="91440" tIns="45720" rIns="91440" bIns="45720" rtlCol="0" anchor="ctr"/>
          <a:lstStyle>
            <a:lvl1pPr algn="r">
              <a:defRPr sz="4320">
                <a:solidFill>
                  <a:schemeClr val="tx1">
                    <a:tint val="75000"/>
                  </a:schemeClr>
                </a:solidFill>
              </a:defRPr>
            </a:lvl1pPr>
          </a:lstStyle>
          <a:p>
            <a:fld id="{D5E22B00-5B96-0D42-BDA2-9AC7B8D71230}" type="slidenum">
              <a:rPr lang="en-US" smtClean="0"/>
              <a:t>‹#›</a:t>
            </a:fld>
            <a:endParaRPr lang="en-US" dirty="0"/>
          </a:p>
        </p:txBody>
      </p:sp>
    </p:spTree>
    <p:extLst>
      <p:ext uri="{BB962C8B-B14F-4D97-AF65-F5344CB8AC3E}">
        <p14:creationId xmlns:p14="http://schemas.microsoft.com/office/powerpoint/2010/main" val="346391856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3291533" rtl="0" eaLnBrk="1" latinLnBrk="0" hangingPunct="1">
        <a:lnSpc>
          <a:spcPct val="90000"/>
        </a:lnSpc>
        <a:spcBef>
          <a:spcPct val="0"/>
        </a:spcBef>
        <a:buNone/>
        <a:defRPr sz="15837" kern="1200">
          <a:solidFill>
            <a:schemeClr val="tx1"/>
          </a:solidFill>
          <a:latin typeface="+mj-lt"/>
          <a:ea typeface="+mj-ea"/>
          <a:cs typeface="+mj-cs"/>
        </a:defRPr>
      </a:lvl1pPr>
    </p:titleStyle>
    <p:bodyStyle>
      <a:lvl1pPr marL="822885" indent="-822885" algn="l" defTabSz="3291533" rtl="0" eaLnBrk="1" latinLnBrk="0" hangingPunct="1">
        <a:lnSpc>
          <a:spcPct val="90000"/>
        </a:lnSpc>
        <a:spcBef>
          <a:spcPts val="3600"/>
        </a:spcBef>
        <a:buFont typeface="Arial" panose="020B0604020202020204" pitchFamily="34" charset="0"/>
        <a:buChar char="•"/>
        <a:defRPr sz="10079" kern="1200">
          <a:solidFill>
            <a:schemeClr val="tx1"/>
          </a:solidFill>
          <a:latin typeface="+mn-lt"/>
          <a:ea typeface="+mn-ea"/>
          <a:cs typeface="+mn-cs"/>
        </a:defRPr>
      </a:lvl1pPr>
      <a:lvl2pPr marL="2468651" indent="-822885" algn="l" defTabSz="3291533"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418" indent="-822885" algn="l" defTabSz="3291533"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186" indent="-822885" algn="l" defTabSz="3291533"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5953" indent="-822885" algn="l" defTabSz="3291533"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1719" indent="-822885" algn="l" defTabSz="3291533"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7486" indent="-822885" algn="l" defTabSz="3291533"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3255" indent="-822885" algn="l" defTabSz="3291533"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89021" indent="-822885" algn="l" defTabSz="3291533"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533" rtl="0" eaLnBrk="1" latinLnBrk="0" hangingPunct="1">
        <a:defRPr sz="6480" kern="1200">
          <a:solidFill>
            <a:schemeClr val="tx1"/>
          </a:solidFill>
          <a:latin typeface="+mn-lt"/>
          <a:ea typeface="+mn-ea"/>
          <a:cs typeface="+mn-cs"/>
        </a:defRPr>
      </a:lvl1pPr>
      <a:lvl2pPr marL="1645767" algn="l" defTabSz="3291533" rtl="0" eaLnBrk="1" latinLnBrk="0" hangingPunct="1">
        <a:defRPr sz="6480" kern="1200">
          <a:solidFill>
            <a:schemeClr val="tx1"/>
          </a:solidFill>
          <a:latin typeface="+mn-lt"/>
          <a:ea typeface="+mn-ea"/>
          <a:cs typeface="+mn-cs"/>
        </a:defRPr>
      </a:lvl2pPr>
      <a:lvl3pPr marL="3291533" algn="l" defTabSz="3291533" rtl="0" eaLnBrk="1" latinLnBrk="0" hangingPunct="1">
        <a:defRPr sz="6480" kern="1200">
          <a:solidFill>
            <a:schemeClr val="tx1"/>
          </a:solidFill>
          <a:latin typeface="+mn-lt"/>
          <a:ea typeface="+mn-ea"/>
          <a:cs typeface="+mn-cs"/>
        </a:defRPr>
      </a:lvl3pPr>
      <a:lvl4pPr marL="4937301" algn="l" defTabSz="3291533" rtl="0" eaLnBrk="1" latinLnBrk="0" hangingPunct="1">
        <a:defRPr sz="6480" kern="1200">
          <a:solidFill>
            <a:schemeClr val="tx1"/>
          </a:solidFill>
          <a:latin typeface="+mn-lt"/>
          <a:ea typeface="+mn-ea"/>
          <a:cs typeface="+mn-cs"/>
        </a:defRPr>
      </a:lvl4pPr>
      <a:lvl5pPr marL="6583069" algn="l" defTabSz="3291533" rtl="0" eaLnBrk="1" latinLnBrk="0" hangingPunct="1">
        <a:defRPr sz="6480" kern="1200">
          <a:solidFill>
            <a:schemeClr val="tx1"/>
          </a:solidFill>
          <a:latin typeface="+mn-lt"/>
          <a:ea typeface="+mn-ea"/>
          <a:cs typeface="+mn-cs"/>
        </a:defRPr>
      </a:lvl5pPr>
      <a:lvl6pPr marL="8228836" algn="l" defTabSz="3291533" rtl="0" eaLnBrk="1" latinLnBrk="0" hangingPunct="1">
        <a:defRPr sz="6480" kern="1200">
          <a:solidFill>
            <a:schemeClr val="tx1"/>
          </a:solidFill>
          <a:latin typeface="+mn-lt"/>
          <a:ea typeface="+mn-ea"/>
          <a:cs typeface="+mn-cs"/>
        </a:defRPr>
      </a:lvl6pPr>
      <a:lvl7pPr marL="9874604" algn="l" defTabSz="3291533" rtl="0" eaLnBrk="1" latinLnBrk="0" hangingPunct="1">
        <a:defRPr sz="6480" kern="1200">
          <a:solidFill>
            <a:schemeClr val="tx1"/>
          </a:solidFill>
          <a:latin typeface="+mn-lt"/>
          <a:ea typeface="+mn-ea"/>
          <a:cs typeface="+mn-cs"/>
        </a:defRPr>
      </a:lvl7pPr>
      <a:lvl8pPr marL="11520370" algn="l" defTabSz="3291533" rtl="0" eaLnBrk="1" latinLnBrk="0" hangingPunct="1">
        <a:defRPr sz="6480" kern="1200">
          <a:solidFill>
            <a:schemeClr val="tx1"/>
          </a:solidFill>
          <a:latin typeface="+mn-lt"/>
          <a:ea typeface="+mn-ea"/>
          <a:cs typeface="+mn-cs"/>
        </a:defRPr>
      </a:lvl8pPr>
      <a:lvl9pPr marL="13166138" algn="l" defTabSz="3291533"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emf"/><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tif"/><Relationship Id="rId5" Type="http://schemas.openxmlformats.org/officeDocument/2006/relationships/image" Target="../media/image3.tif"/><Relationship Id="rId4" Type="http://schemas.openxmlformats.org/officeDocument/2006/relationships/image" Target="../media/image2.t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CF01578-1179-6B9D-60E0-D9A6269090CA}"/>
              </a:ext>
              <a:ext uri="{C183D7F6-B498-43B3-948B-1728B52AA6E4}">
                <adec:decorative xmlns:adec="http://schemas.microsoft.com/office/drawing/2017/decorative" val="1"/>
              </a:ext>
            </a:extLst>
          </p:cNvPr>
          <p:cNvSpPr/>
          <p:nvPr/>
        </p:nvSpPr>
        <p:spPr>
          <a:xfrm>
            <a:off x="11315707" y="6376340"/>
            <a:ext cx="20719151" cy="26179857"/>
          </a:xfrm>
          <a:prstGeom prst="rect">
            <a:avLst/>
          </a:prstGeom>
          <a:solidFill>
            <a:srgbClr val="C6D2E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54" name="Rectangle 53">
            <a:extLst>
              <a:ext uri="{FF2B5EF4-FFF2-40B4-BE49-F238E27FC236}">
                <a16:creationId xmlns:a16="http://schemas.microsoft.com/office/drawing/2014/main" id="{FB1DDAAF-A939-4528-B09E-EF918061376B}"/>
              </a:ext>
              <a:ext uri="{C183D7F6-B498-43B3-948B-1728B52AA6E4}">
                <adec:decorative xmlns:adec="http://schemas.microsoft.com/office/drawing/2017/decorative" val="1"/>
              </a:ext>
            </a:extLst>
          </p:cNvPr>
          <p:cNvSpPr/>
          <p:nvPr/>
        </p:nvSpPr>
        <p:spPr>
          <a:xfrm>
            <a:off x="32364372" y="6376340"/>
            <a:ext cx="10948434" cy="9240001"/>
          </a:xfrm>
          <a:prstGeom prst="rect">
            <a:avLst/>
          </a:prstGeom>
          <a:solidFill>
            <a:srgbClr val="C6D2E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Fgi</a:t>
            </a:r>
            <a:endParaRPr lang="en-US" dirty="0"/>
          </a:p>
        </p:txBody>
      </p:sp>
      <p:grpSp>
        <p:nvGrpSpPr>
          <p:cNvPr id="3" name="Group 2" descr="South Dakota State Unversity logo and poster header">
            <a:extLst>
              <a:ext uri="{FF2B5EF4-FFF2-40B4-BE49-F238E27FC236}">
                <a16:creationId xmlns:a16="http://schemas.microsoft.com/office/drawing/2014/main" id="{8C4976B4-3DD4-AF42-BD3A-A0A3BCF38850}"/>
              </a:ext>
            </a:extLst>
          </p:cNvPr>
          <p:cNvGrpSpPr/>
          <p:nvPr/>
        </p:nvGrpSpPr>
        <p:grpSpPr>
          <a:xfrm>
            <a:off x="0" y="-28162"/>
            <a:ext cx="43977074" cy="4941893"/>
            <a:chOff x="0" y="-126305"/>
            <a:chExt cx="51290442" cy="5949187"/>
          </a:xfrm>
        </p:grpSpPr>
        <p:sp>
          <p:nvSpPr>
            <p:cNvPr id="6" name="Round Single Corner Rectangle 5">
              <a:extLst>
                <a:ext uri="{FF2B5EF4-FFF2-40B4-BE49-F238E27FC236}">
                  <a16:creationId xmlns:a16="http://schemas.microsoft.com/office/drawing/2014/main" id="{0DC15F1E-01A4-DE4A-B3CB-EB9A438B8F0C}"/>
                </a:ext>
              </a:extLst>
            </p:cNvPr>
            <p:cNvSpPr/>
            <p:nvPr/>
          </p:nvSpPr>
          <p:spPr>
            <a:xfrm rot="10800000">
              <a:off x="0" y="-56455"/>
              <a:ext cx="51206400" cy="5879337"/>
            </a:xfrm>
            <a:prstGeom prst="round1Rect">
              <a:avLst/>
            </a:prstGeom>
            <a:gradFill flip="none" rotWithShape="1">
              <a:gsLst>
                <a:gs pos="0">
                  <a:schemeClr val="accent3"/>
                </a:gs>
                <a:gs pos="50000">
                  <a:schemeClr val="accent2"/>
                </a:gs>
                <a:gs pos="99000">
                  <a:schemeClr val="tx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riangle 25">
              <a:extLst>
                <a:ext uri="{FF2B5EF4-FFF2-40B4-BE49-F238E27FC236}">
                  <a16:creationId xmlns:a16="http://schemas.microsoft.com/office/drawing/2014/main" id="{6D0A3945-6C87-5F4F-ACE2-03FB3E13CC9D}"/>
                </a:ext>
                <a:ext uri="{C183D7F6-B498-43B3-948B-1728B52AA6E4}">
                  <adec:decorative xmlns:adec="http://schemas.microsoft.com/office/drawing/2017/decorative" val="1"/>
                </a:ext>
              </a:extLst>
            </p:cNvPr>
            <p:cNvSpPr/>
            <p:nvPr/>
          </p:nvSpPr>
          <p:spPr>
            <a:xfrm rot="10800000">
              <a:off x="49121567" y="-126305"/>
              <a:ext cx="2168875" cy="2198368"/>
            </a:xfrm>
            <a:prstGeom prst="triangle">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descr="South Dakota State University logo">
              <a:extLst>
                <a:ext uri="{FF2B5EF4-FFF2-40B4-BE49-F238E27FC236}">
                  <a16:creationId xmlns:a16="http://schemas.microsoft.com/office/drawing/2014/main" id="{D84E4369-AF87-334A-B2C6-D97F4280F1C2}"/>
                </a:ext>
              </a:extLst>
            </p:cNvPr>
            <p:cNvPicPr>
              <a:picLocks noChangeAspect="1"/>
            </p:cNvPicPr>
            <p:nvPr/>
          </p:nvPicPr>
          <p:blipFill rotWithShape="1">
            <a:blip r:embed="rId3"/>
            <a:srcRect t="-2" b="23086"/>
            <a:stretch/>
          </p:blipFill>
          <p:spPr>
            <a:xfrm>
              <a:off x="1006480" y="399872"/>
              <a:ext cx="5406289" cy="4875122"/>
            </a:xfrm>
            <a:prstGeom prst="rect">
              <a:avLst/>
            </a:prstGeom>
          </p:spPr>
        </p:pic>
      </p:grpSp>
      <p:sp>
        <p:nvSpPr>
          <p:cNvPr id="4" name="Title 3" descr="Title of Research Poster 1 Here textbox">
            <a:extLst>
              <a:ext uri="{FF2B5EF4-FFF2-40B4-BE49-F238E27FC236}">
                <a16:creationId xmlns:a16="http://schemas.microsoft.com/office/drawing/2014/main" id="{78F86872-EE16-F049-B7B5-3DA48776D853}"/>
              </a:ext>
            </a:extLst>
          </p:cNvPr>
          <p:cNvSpPr>
            <a:spLocks noGrp="1"/>
          </p:cNvSpPr>
          <p:nvPr>
            <p:ph type="ctrTitle"/>
          </p:nvPr>
        </p:nvSpPr>
        <p:spPr>
          <a:xfrm>
            <a:off x="5094514" y="176451"/>
            <a:ext cx="37022939" cy="2481937"/>
          </a:xfrm>
        </p:spPr>
        <p:txBody>
          <a:bodyPr anchor="t">
            <a:noAutofit/>
          </a:bodyPr>
          <a:lstStyle/>
          <a:p>
            <a:r>
              <a:rPr lang="en-US" sz="8228" b="1" dirty="0">
                <a:solidFill>
                  <a:schemeClr val="bg1"/>
                </a:solidFill>
                <a:latin typeface="Times New Roman" panose="02020603050405020304" pitchFamily="18" charset="0"/>
              </a:rPr>
              <a:t>Compositional design of soft magnetic Fe</a:t>
            </a:r>
            <a:r>
              <a:rPr lang="en-US" sz="8228" b="1" baseline="-25000" dirty="0">
                <a:solidFill>
                  <a:schemeClr val="bg1"/>
                </a:solidFill>
                <a:latin typeface="Times New Roman" panose="02020603050405020304" pitchFamily="18" charset="0"/>
              </a:rPr>
              <a:t>73.5</a:t>
            </a:r>
            <a:r>
              <a:rPr lang="en-US" sz="8228" b="1" dirty="0">
                <a:solidFill>
                  <a:schemeClr val="bg1"/>
                </a:solidFill>
                <a:latin typeface="Times New Roman" panose="02020603050405020304" pitchFamily="18" charset="0"/>
              </a:rPr>
              <a:t>Nb</a:t>
            </a:r>
            <a:r>
              <a:rPr lang="en-US" sz="8228" b="1" baseline="-25000" dirty="0">
                <a:solidFill>
                  <a:schemeClr val="bg1"/>
                </a:solidFill>
                <a:latin typeface="Times New Roman" panose="02020603050405020304" pitchFamily="18" charset="0"/>
              </a:rPr>
              <a:t>3</a:t>
            </a:r>
            <a:r>
              <a:rPr lang="en-US" sz="8228" b="1" dirty="0">
                <a:solidFill>
                  <a:schemeClr val="bg1"/>
                </a:solidFill>
                <a:latin typeface="Times New Roman" panose="02020603050405020304" pitchFamily="18" charset="0"/>
              </a:rPr>
              <a:t>Cu</a:t>
            </a:r>
            <a:r>
              <a:rPr lang="en-US" sz="8228" b="1" baseline="-25000" dirty="0">
                <a:solidFill>
                  <a:schemeClr val="bg1"/>
                </a:solidFill>
                <a:latin typeface="Times New Roman" panose="02020603050405020304" pitchFamily="18" charset="0"/>
              </a:rPr>
              <a:t>1</a:t>
            </a:r>
            <a:r>
              <a:rPr lang="en-US" sz="8228" b="1" dirty="0">
                <a:solidFill>
                  <a:schemeClr val="bg1"/>
                </a:solidFill>
                <a:latin typeface="Times New Roman" panose="02020603050405020304" pitchFamily="18" charset="0"/>
              </a:rPr>
              <a:t>Z</a:t>
            </a:r>
            <a:r>
              <a:rPr lang="en-US" sz="8228" b="1" baseline="-25000" dirty="0">
                <a:solidFill>
                  <a:schemeClr val="bg1"/>
                </a:solidFill>
                <a:latin typeface="Times New Roman" panose="02020603050405020304" pitchFamily="18" charset="0"/>
              </a:rPr>
              <a:t>13.5+x </a:t>
            </a:r>
            <a:r>
              <a:rPr lang="en-US" sz="8228" b="1" dirty="0">
                <a:solidFill>
                  <a:schemeClr val="bg1"/>
                </a:solidFill>
                <a:latin typeface="Times New Roman" panose="02020603050405020304" pitchFamily="18" charset="0"/>
              </a:rPr>
              <a:t>B</a:t>
            </a:r>
            <a:r>
              <a:rPr lang="en-US" sz="8228" b="1" baseline="-25000" dirty="0">
                <a:solidFill>
                  <a:schemeClr val="bg1"/>
                </a:solidFill>
                <a:latin typeface="Times New Roman" panose="02020603050405020304" pitchFamily="18" charset="0"/>
              </a:rPr>
              <a:t>9-x</a:t>
            </a:r>
            <a:r>
              <a:rPr lang="en-US" sz="8228" b="1" dirty="0">
                <a:solidFill>
                  <a:schemeClr val="bg1"/>
                </a:solidFill>
                <a:latin typeface="Times New Roman" panose="02020603050405020304" pitchFamily="18" charset="0"/>
              </a:rPr>
              <a:t> (Z = Si, Ga) alloys for energy applications</a:t>
            </a:r>
            <a:br>
              <a:rPr lang="en-US" sz="8228" b="1" dirty="0">
                <a:solidFill>
                  <a:schemeClr val="bg1"/>
                </a:solidFill>
                <a:latin typeface="Times New Roman" panose="02020603050405020304" pitchFamily="18" charset="0"/>
              </a:rPr>
            </a:br>
            <a:br>
              <a:rPr lang="en-US" sz="8228" b="1" dirty="0">
                <a:solidFill>
                  <a:schemeClr val="bg1"/>
                </a:solidFill>
                <a:latin typeface="Times New Roman" panose="02020603050405020304" pitchFamily="18" charset="0"/>
              </a:rPr>
            </a:br>
            <a:endParaRPr lang="en-US" sz="8228" b="1" dirty="0">
              <a:solidFill>
                <a:schemeClr val="bg1"/>
              </a:solidFill>
              <a:latin typeface="Helvetica" pitchFamily="2" charset="0"/>
            </a:endParaRPr>
          </a:p>
        </p:txBody>
      </p:sp>
      <p:sp>
        <p:nvSpPr>
          <p:cNvPr id="13" name="Title 3" descr="College/Department information textbox">
            <a:extLst>
              <a:ext uri="{FF2B5EF4-FFF2-40B4-BE49-F238E27FC236}">
                <a16:creationId xmlns:a16="http://schemas.microsoft.com/office/drawing/2014/main" id="{F99D26E9-CE99-9342-AFA3-B416E2E731AC}"/>
              </a:ext>
            </a:extLst>
          </p:cNvPr>
          <p:cNvSpPr txBox="1">
            <a:spLocks/>
          </p:cNvSpPr>
          <p:nvPr/>
        </p:nvSpPr>
        <p:spPr>
          <a:xfrm>
            <a:off x="0" y="3672703"/>
            <a:ext cx="43913375" cy="1925284"/>
          </a:xfrm>
          <a:prstGeom prst="rect">
            <a:avLst/>
          </a:prstGeom>
        </p:spPr>
        <p:txBody>
          <a:bodyPr vert="horz" lIns="91440" tIns="45720" rIns="91440" bIns="45720" rtlCol="0" anchor="t">
            <a:noAutofit/>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pPr>
              <a:lnSpc>
                <a:spcPct val="107000"/>
              </a:lnSpc>
              <a:spcBef>
                <a:spcPts val="0"/>
              </a:spcBef>
              <a:spcAft>
                <a:spcPts val="514"/>
              </a:spcAft>
            </a:pPr>
            <a:r>
              <a:rPr lang="en-US" sz="3428" i="1" dirty="0">
                <a:solidFill>
                  <a:schemeClr val="bg1"/>
                </a:solidFill>
                <a:latin typeface="Times New Roman" panose="02020603050405020304" pitchFamily="18" charset="0"/>
                <a:ea typeface="Calibri" panose="020F0502020204030204" pitchFamily="34" charset="0"/>
                <a:cs typeface="Mangal" panose="02040503050203030202" pitchFamily="18" charset="0"/>
              </a:rPr>
              <a:t>Department of Chemistry, Biochemistry, and Physics, South Dakota State University, Brookings, SD 57007, USA</a:t>
            </a:r>
            <a:endParaRPr lang="en-US" sz="3428" dirty="0">
              <a:solidFill>
                <a:schemeClr val="bg1"/>
              </a:solidFill>
              <a:latin typeface="Calibri" panose="020F0502020204030204" pitchFamily="34" charset="0"/>
              <a:ea typeface="Calibri" panose="020F0502020204030204" pitchFamily="34" charset="0"/>
              <a:cs typeface="Mangal" panose="02040503050203030202" pitchFamily="18" charset="0"/>
            </a:endParaRPr>
          </a:p>
        </p:txBody>
      </p:sp>
      <p:sp>
        <p:nvSpPr>
          <p:cNvPr id="40" name="Round Same Side Corner Rectangle 39" descr="Introduction header">
            <a:extLst>
              <a:ext uri="{FF2B5EF4-FFF2-40B4-BE49-F238E27FC236}">
                <a16:creationId xmlns:a16="http://schemas.microsoft.com/office/drawing/2014/main" id="{D0489C12-A008-9549-9C20-ACDD48F0FBC1}"/>
              </a:ext>
            </a:extLst>
          </p:cNvPr>
          <p:cNvSpPr/>
          <p:nvPr/>
        </p:nvSpPr>
        <p:spPr>
          <a:xfrm>
            <a:off x="494755" y="5210628"/>
            <a:ext cx="10482232" cy="930517"/>
          </a:xfrm>
          <a:prstGeom prst="round2Same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657" b="1" dirty="0">
                <a:solidFill>
                  <a:schemeClr val="accent2"/>
                </a:solidFill>
                <a:latin typeface="Helvetica" pitchFamily="2" charset="0"/>
              </a:rPr>
              <a:t>Background</a:t>
            </a:r>
          </a:p>
        </p:txBody>
      </p:sp>
      <p:sp>
        <p:nvSpPr>
          <p:cNvPr id="2" name="Rectangle 1">
            <a:extLst>
              <a:ext uri="{FF2B5EF4-FFF2-40B4-BE49-F238E27FC236}">
                <a16:creationId xmlns:a16="http://schemas.microsoft.com/office/drawing/2014/main" id="{330C2443-7DAC-0B45-AE46-6DDCF9DDBD25}"/>
              </a:ext>
              <a:ext uri="{C183D7F6-B498-43B3-948B-1728B52AA6E4}">
                <adec:decorative xmlns:adec="http://schemas.microsoft.com/office/drawing/2017/decorative" val="1"/>
              </a:ext>
            </a:extLst>
          </p:cNvPr>
          <p:cNvSpPr/>
          <p:nvPr/>
        </p:nvSpPr>
        <p:spPr>
          <a:xfrm>
            <a:off x="494755" y="6376340"/>
            <a:ext cx="10476419" cy="13721997"/>
          </a:xfrm>
          <a:prstGeom prst="rect">
            <a:avLst/>
          </a:prstGeom>
          <a:solidFill>
            <a:srgbClr val="C6D2E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extBox 41" descr="Introduction text box, bulleted points">
            <a:extLst>
              <a:ext uri="{FF2B5EF4-FFF2-40B4-BE49-F238E27FC236}">
                <a16:creationId xmlns:a16="http://schemas.microsoft.com/office/drawing/2014/main" id="{3EE80253-5A48-CB47-8E66-458F463984FC}"/>
              </a:ext>
            </a:extLst>
          </p:cNvPr>
          <p:cNvSpPr txBox="1"/>
          <p:nvPr/>
        </p:nvSpPr>
        <p:spPr>
          <a:xfrm>
            <a:off x="445035" y="6669489"/>
            <a:ext cx="10528162" cy="13388280"/>
          </a:xfrm>
          <a:prstGeom prst="rect">
            <a:avLst/>
          </a:prstGeom>
          <a:noFill/>
        </p:spPr>
        <p:txBody>
          <a:bodyPr wrap="square" rtlCol="0">
            <a:spAutoFit/>
          </a:bodyPr>
          <a:lstStyle/>
          <a:p>
            <a:pPr marL="502887" indent="-502887">
              <a:buFont typeface="Wingdings" panose="05000000000000000000" pitchFamily="2" charset="2"/>
              <a:buChar char="v"/>
            </a:pPr>
            <a:r>
              <a:rPr lang="en-US" sz="3200" dirty="0">
                <a:solidFill>
                  <a:schemeClr val="tx2"/>
                </a:solidFill>
                <a:latin typeface="Helvetica" panose="020B0604020202020204" pitchFamily="34" charset="0"/>
                <a:cs typeface="Helvetica" panose="020B0604020202020204" pitchFamily="34" charset="0"/>
              </a:rPr>
              <a:t>Soft magnetic materials can be easily magnetized/de-magnetized. They are integral components of power electronics.</a:t>
            </a:r>
          </a:p>
          <a:p>
            <a:pPr marL="502887" indent="-502887">
              <a:buFont typeface="Wingdings" panose="05000000000000000000" pitchFamily="2" charset="2"/>
              <a:buChar char="v"/>
            </a:pPr>
            <a:endParaRPr lang="en-US" sz="3200" dirty="0">
              <a:solidFill>
                <a:schemeClr val="tx2"/>
              </a:solidFill>
              <a:latin typeface="Helvetica" panose="020B0604020202020204" pitchFamily="34" charset="0"/>
              <a:cs typeface="Helvetica" panose="020B0604020202020204" pitchFamily="34" charset="0"/>
            </a:endParaRPr>
          </a:p>
          <a:p>
            <a:pPr marL="502887" indent="-502887">
              <a:buFont typeface="Wingdings" panose="05000000000000000000" pitchFamily="2" charset="2"/>
              <a:buChar char="v"/>
            </a:pPr>
            <a:r>
              <a:rPr lang="en-US" sz="3200" dirty="0">
                <a:solidFill>
                  <a:schemeClr val="tx2"/>
                </a:solidFill>
                <a:latin typeface="Helvetica" panose="020B0604020202020204" pitchFamily="34" charset="0"/>
                <a:cs typeface="Helvetica" panose="020B0604020202020204" pitchFamily="34" charset="0"/>
              </a:rPr>
              <a:t>These alloys can be used in a variety of applications due to favorable properties such as low coercivity, low remanence, high saturation magnetization and high magnetic permeability.</a:t>
            </a:r>
          </a:p>
          <a:p>
            <a:pPr marL="502887" indent="-502887">
              <a:buFont typeface="Wingdings" panose="05000000000000000000" pitchFamily="2" charset="2"/>
              <a:buChar char="v"/>
            </a:pPr>
            <a:endParaRPr lang="en-US" sz="3200" dirty="0">
              <a:solidFill>
                <a:schemeClr val="tx2"/>
              </a:solidFill>
              <a:latin typeface="Helvetica" panose="020B0604020202020204" pitchFamily="34" charset="0"/>
              <a:cs typeface="Helvetica" panose="020B0604020202020204" pitchFamily="34" charset="0"/>
            </a:endParaRPr>
          </a:p>
          <a:p>
            <a:pPr marL="502887" indent="-502887">
              <a:buFont typeface="Wingdings" panose="05000000000000000000" pitchFamily="2" charset="2"/>
              <a:buChar char="v"/>
            </a:pPr>
            <a:r>
              <a:rPr lang="en-US" sz="3200" dirty="0">
                <a:solidFill>
                  <a:schemeClr val="tx2"/>
                </a:solidFill>
                <a:latin typeface="Helvetica" panose="020B0604020202020204" pitchFamily="34" charset="0"/>
                <a:cs typeface="Helvetica" panose="020B0604020202020204" pitchFamily="34" charset="0"/>
              </a:rPr>
              <a:t>These materials can be cast into amorphous ribbons for use in devices such as transformers and inductors, but bulk samples can be used to study the resulting crystal structures as well as other properties. [1]</a:t>
            </a:r>
          </a:p>
          <a:p>
            <a:pPr marL="502887" indent="-502887">
              <a:buFont typeface="Wingdings" panose="05000000000000000000" pitchFamily="2" charset="2"/>
              <a:buChar char="v"/>
            </a:pPr>
            <a:endParaRPr lang="en-US" sz="3200" dirty="0">
              <a:solidFill>
                <a:schemeClr val="tx2"/>
              </a:solidFill>
              <a:latin typeface="Helvetica" panose="020B0604020202020204" pitchFamily="34" charset="0"/>
              <a:cs typeface="Helvetica" panose="020B0604020202020204" pitchFamily="34" charset="0"/>
            </a:endParaRPr>
          </a:p>
          <a:p>
            <a:pPr marL="502887" indent="-502887">
              <a:buFont typeface="Wingdings" panose="05000000000000000000" pitchFamily="2" charset="2"/>
              <a:buChar char="v"/>
            </a:pPr>
            <a:r>
              <a:rPr lang="en-US" sz="3200" dirty="0">
                <a:solidFill>
                  <a:schemeClr val="tx2"/>
                </a:solidFill>
                <a:latin typeface="Helvetica" panose="020B0604020202020204" pitchFamily="34" charset="0"/>
                <a:cs typeface="Helvetica" panose="020B0604020202020204" pitchFamily="34" charset="0"/>
              </a:rPr>
              <a:t>Ga &amp; Si are present to mediate vitrification of the alloy and reduce magnetic anisotropy, while boron stabilizes the resulting amorphous structure.  [2]</a:t>
            </a:r>
          </a:p>
          <a:p>
            <a:endParaRPr lang="en-US" sz="3200" dirty="0">
              <a:solidFill>
                <a:schemeClr val="tx2"/>
              </a:solidFill>
              <a:latin typeface="Helvetica" panose="020B0604020202020204" pitchFamily="34" charset="0"/>
              <a:cs typeface="Helvetica" panose="020B0604020202020204" pitchFamily="34" charset="0"/>
            </a:endParaRPr>
          </a:p>
          <a:p>
            <a:pPr marL="502887" indent="-502887">
              <a:buFont typeface="Wingdings" panose="05000000000000000000" pitchFamily="2" charset="2"/>
              <a:buChar char="v"/>
            </a:pPr>
            <a:r>
              <a:rPr lang="en-US" sz="3200" dirty="0">
                <a:solidFill>
                  <a:schemeClr val="tx2"/>
                </a:solidFill>
                <a:latin typeface="Helvetica" panose="020B0604020202020204" pitchFamily="34" charset="0"/>
                <a:cs typeface="Helvetica" panose="020B0604020202020204" pitchFamily="34" charset="0"/>
              </a:rPr>
              <a:t>Changes in crystalline structure may lead to observable changes in the magnetic properties of the synthesized materials.</a:t>
            </a:r>
          </a:p>
          <a:p>
            <a:pPr marL="502887" indent="-502887">
              <a:buFont typeface="Wingdings" panose="05000000000000000000" pitchFamily="2" charset="2"/>
              <a:buChar char="v"/>
            </a:pPr>
            <a:endParaRPr lang="en-US" sz="3200" dirty="0">
              <a:solidFill>
                <a:schemeClr val="tx2"/>
              </a:solidFill>
              <a:latin typeface="Helvetica" panose="020B0604020202020204" pitchFamily="34" charset="0"/>
              <a:cs typeface="Helvetica" panose="020B0604020202020204" pitchFamily="34" charset="0"/>
            </a:endParaRPr>
          </a:p>
          <a:p>
            <a:pPr marL="502887" indent="-502887">
              <a:buFont typeface="Wingdings" panose="05000000000000000000" pitchFamily="2" charset="2"/>
              <a:buChar char="v"/>
            </a:pPr>
            <a:r>
              <a:rPr lang="en-US" sz="3200" dirty="0">
                <a:solidFill>
                  <a:schemeClr val="tx2"/>
                </a:solidFill>
                <a:latin typeface="Helvetica" panose="020B0604020202020204" pitchFamily="34" charset="0"/>
                <a:cs typeface="Helvetica" panose="020B0604020202020204" pitchFamily="34" charset="0"/>
              </a:rPr>
              <a:t>We have synthesized the Fe</a:t>
            </a:r>
            <a:r>
              <a:rPr lang="en-US" sz="3200" baseline="-25000" dirty="0">
                <a:solidFill>
                  <a:schemeClr val="tx2"/>
                </a:solidFill>
                <a:latin typeface="Helvetica" panose="020B0604020202020204" pitchFamily="34" charset="0"/>
                <a:cs typeface="Helvetica" panose="020B0604020202020204" pitchFamily="34" charset="0"/>
              </a:rPr>
              <a:t>73.5</a:t>
            </a:r>
            <a:r>
              <a:rPr lang="en-US" sz="3200" dirty="0">
                <a:solidFill>
                  <a:schemeClr val="tx2"/>
                </a:solidFill>
                <a:latin typeface="Helvetica" panose="020B0604020202020204" pitchFamily="34" charset="0"/>
                <a:cs typeface="Helvetica" panose="020B0604020202020204" pitchFamily="34" charset="0"/>
              </a:rPr>
              <a:t>Nb</a:t>
            </a:r>
            <a:r>
              <a:rPr lang="en-US" sz="3200" baseline="-25000" dirty="0">
                <a:solidFill>
                  <a:schemeClr val="tx2"/>
                </a:solidFill>
                <a:latin typeface="Helvetica" panose="020B0604020202020204" pitchFamily="34" charset="0"/>
                <a:cs typeface="Helvetica" panose="020B0604020202020204" pitchFamily="34" charset="0"/>
              </a:rPr>
              <a:t>3</a:t>
            </a:r>
            <a:r>
              <a:rPr lang="en-US" sz="3200" dirty="0">
                <a:solidFill>
                  <a:schemeClr val="tx2"/>
                </a:solidFill>
                <a:latin typeface="Helvetica" panose="020B0604020202020204" pitchFamily="34" charset="0"/>
                <a:cs typeface="Helvetica" panose="020B0604020202020204" pitchFamily="34" charset="0"/>
              </a:rPr>
              <a:t>Cu</a:t>
            </a:r>
            <a:r>
              <a:rPr lang="en-US" sz="3200" baseline="-25000" dirty="0">
                <a:solidFill>
                  <a:schemeClr val="tx2"/>
                </a:solidFill>
                <a:latin typeface="Helvetica" panose="020B0604020202020204" pitchFamily="34" charset="0"/>
                <a:cs typeface="Helvetica" panose="020B0604020202020204" pitchFamily="34" charset="0"/>
              </a:rPr>
              <a:t>1</a:t>
            </a:r>
            <a:r>
              <a:rPr lang="en-US" sz="3200" dirty="0">
                <a:solidFill>
                  <a:schemeClr val="tx2"/>
                </a:solidFill>
                <a:latin typeface="Helvetica" panose="020B0604020202020204" pitchFamily="34" charset="0"/>
                <a:cs typeface="Helvetica" panose="020B0604020202020204" pitchFamily="34" charset="0"/>
              </a:rPr>
              <a:t>Z</a:t>
            </a:r>
            <a:r>
              <a:rPr lang="en-US" sz="3200" baseline="-25000" dirty="0">
                <a:solidFill>
                  <a:schemeClr val="tx2"/>
                </a:solidFill>
                <a:latin typeface="Helvetica" panose="020B0604020202020204" pitchFamily="34" charset="0"/>
                <a:cs typeface="Helvetica" panose="020B0604020202020204" pitchFamily="34" charset="0"/>
              </a:rPr>
              <a:t>13.5+x</a:t>
            </a:r>
            <a:r>
              <a:rPr lang="en-US" sz="3200" dirty="0">
                <a:solidFill>
                  <a:schemeClr val="tx2"/>
                </a:solidFill>
                <a:latin typeface="Helvetica" panose="020B0604020202020204" pitchFamily="34" charset="0"/>
                <a:cs typeface="Helvetica" panose="020B0604020202020204" pitchFamily="34" charset="0"/>
              </a:rPr>
              <a:t>B</a:t>
            </a:r>
            <a:r>
              <a:rPr lang="en-US" sz="3200" baseline="-25000" dirty="0">
                <a:solidFill>
                  <a:schemeClr val="tx2"/>
                </a:solidFill>
                <a:latin typeface="Helvetica" panose="020B0604020202020204" pitchFamily="34" charset="0"/>
                <a:cs typeface="Helvetica" panose="020B0604020202020204" pitchFamily="34" charset="0"/>
              </a:rPr>
              <a:t>9-x</a:t>
            </a:r>
            <a:r>
              <a:rPr lang="en-US" sz="3200" dirty="0">
                <a:solidFill>
                  <a:schemeClr val="tx2"/>
                </a:solidFill>
                <a:latin typeface="Helvetica" panose="020B0604020202020204" pitchFamily="34" charset="0"/>
                <a:cs typeface="Helvetica" panose="020B0604020202020204" pitchFamily="34" charset="0"/>
              </a:rPr>
              <a:t> alloys with x = 0, 0.5, 1, 1.5, 2, 2.5, and 3, and investigated their crystal structures and magnetic properties.</a:t>
            </a:r>
          </a:p>
          <a:p>
            <a:pPr marL="502887" indent="-502887">
              <a:buFont typeface="Wingdings" panose="05000000000000000000" pitchFamily="2" charset="2"/>
              <a:buChar char="v"/>
            </a:pPr>
            <a:endParaRPr lang="en-US" sz="3200" dirty="0">
              <a:solidFill>
                <a:schemeClr val="tx2"/>
              </a:solidFill>
              <a:latin typeface="Helvetica" panose="020B0604020202020204" pitchFamily="34" charset="0"/>
              <a:cs typeface="Helvetica" panose="020B0604020202020204" pitchFamily="34" charset="0"/>
            </a:endParaRPr>
          </a:p>
        </p:txBody>
      </p:sp>
      <p:sp>
        <p:nvSpPr>
          <p:cNvPr id="63" name="Round Same Side Corner Rectangle 62" descr="Materials and Methods header">
            <a:extLst>
              <a:ext uri="{FF2B5EF4-FFF2-40B4-BE49-F238E27FC236}">
                <a16:creationId xmlns:a16="http://schemas.microsoft.com/office/drawing/2014/main" id="{794DB27F-621D-A042-A556-357B548581B2}"/>
              </a:ext>
            </a:extLst>
          </p:cNvPr>
          <p:cNvSpPr/>
          <p:nvPr/>
        </p:nvSpPr>
        <p:spPr>
          <a:xfrm>
            <a:off x="494754" y="20336646"/>
            <a:ext cx="10476421" cy="1004885"/>
          </a:xfrm>
          <a:prstGeom prst="round2Same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accent2"/>
                </a:solidFill>
                <a:latin typeface="Helvetica" pitchFamily="2" charset="0"/>
              </a:rPr>
              <a:t>Experimental Methods</a:t>
            </a:r>
          </a:p>
        </p:txBody>
      </p:sp>
      <p:sp>
        <p:nvSpPr>
          <p:cNvPr id="61" name="Rectangle 60">
            <a:extLst>
              <a:ext uri="{FF2B5EF4-FFF2-40B4-BE49-F238E27FC236}">
                <a16:creationId xmlns:a16="http://schemas.microsoft.com/office/drawing/2014/main" id="{CAE7E906-FD70-9748-94D1-8251775D1466}"/>
              </a:ext>
              <a:ext uri="{C183D7F6-B498-43B3-948B-1728B52AA6E4}">
                <adec:decorative xmlns:adec="http://schemas.microsoft.com/office/drawing/2017/decorative" val="1"/>
              </a:ext>
            </a:extLst>
          </p:cNvPr>
          <p:cNvSpPr/>
          <p:nvPr/>
        </p:nvSpPr>
        <p:spPr>
          <a:xfrm>
            <a:off x="494755" y="21579840"/>
            <a:ext cx="10476420" cy="10976358"/>
          </a:xfrm>
          <a:prstGeom prst="rect">
            <a:avLst/>
          </a:prstGeom>
          <a:solidFill>
            <a:srgbClr val="C6D2E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ound Same Side Corner Rectangle 47" descr="Results header">
            <a:extLst>
              <a:ext uri="{FF2B5EF4-FFF2-40B4-BE49-F238E27FC236}">
                <a16:creationId xmlns:a16="http://schemas.microsoft.com/office/drawing/2014/main" id="{5E1E6F3D-884F-8B4E-B607-37D4BBEB3631}"/>
              </a:ext>
            </a:extLst>
          </p:cNvPr>
          <p:cNvSpPr/>
          <p:nvPr/>
        </p:nvSpPr>
        <p:spPr>
          <a:xfrm>
            <a:off x="32364371" y="5210628"/>
            <a:ext cx="10948437" cy="930517"/>
          </a:xfrm>
          <a:prstGeom prst="round2Same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657" b="1" dirty="0">
                <a:solidFill>
                  <a:schemeClr val="accent2"/>
                </a:solidFill>
                <a:latin typeface="Helvetica" pitchFamily="2" charset="0"/>
              </a:rPr>
              <a:t>Structural Properties</a:t>
            </a:r>
          </a:p>
        </p:txBody>
      </p:sp>
      <p:sp>
        <p:nvSpPr>
          <p:cNvPr id="50" name="Round Same Side Corner Rectangle 49" descr="Implications header">
            <a:extLst>
              <a:ext uri="{FF2B5EF4-FFF2-40B4-BE49-F238E27FC236}">
                <a16:creationId xmlns:a16="http://schemas.microsoft.com/office/drawing/2014/main" id="{D3F0B1A5-AAFD-B44D-9057-575655AC73C4}"/>
              </a:ext>
            </a:extLst>
          </p:cNvPr>
          <p:cNvSpPr/>
          <p:nvPr/>
        </p:nvSpPr>
        <p:spPr>
          <a:xfrm>
            <a:off x="32364372" y="15825345"/>
            <a:ext cx="10948434" cy="983099"/>
          </a:xfrm>
          <a:prstGeom prst="round2Same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657" b="1" dirty="0">
                <a:solidFill>
                  <a:schemeClr val="accent2"/>
                </a:solidFill>
                <a:latin typeface="Helvetica" pitchFamily="2" charset="0"/>
              </a:rPr>
              <a:t>Conclusions</a:t>
            </a:r>
          </a:p>
        </p:txBody>
      </p:sp>
      <p:sp>
        <p:nvSpPr>
          <p:cNvPr id="18" name="Rectangle 17">
            <a:extLst>
              <a:ext uri="{FF2B5EF4-FFF2-40B4-BE49-F238E27FC236}">
                <a16:creationId xmlns:a16="http://schemas.microsoft.com/office/drawing/2014/main" id="{FBE634B4-51F2-EE4E-81E2-22B67B521EA6}"/>
              </a:ext>
              <a:ext uri="{C183D7F6-B498-43B3-948B-1728B52AA6E4}">
                <adec:decorative xmlns:adec="http://schemas.microsoft.com/office/drawing/2017/decorative" val="1"/>
              </a:ext>
            </a:extLst>
          </p:cNvPr>
          <p:cNvSpPr/>
          <p:nvPr/>
        </p:nvSpPr>
        <p:spPr>
          <a:xfrm>
            <a:off x="32364372" y="17017448"/>
            <a:ext cx="10948434" cy="7408993"/>
          </a:xfrm>
          <a:prstGeom prst="rect">
            <a:avLst/>
          </a:prstGeom>
          <a:solidFill>
            <a:srgbClr val="C6D2E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TextBox 71" descr="Results text box, bulleted points">
            <a:extLst>
              <a:ext uri="{FF2B5EF4-FFF2-40B4-BE49-F238E27FC236}">
                <a16:creationId xmlns:a16="http://schemas.microsoft.com/office/drawing/2014/main" id="{69069E95-E4FD-E74D-8975-0ADDD545DF39}"/>
              </a:ext>
            </a:extLst>
          </p:cNvPr>
          <p:cNvSpPr txBox="1"/>
          <p:nvPr/>
        </p:nvSpPr>
        <p:spPr>
          <a:xfrm>
            <a:off x="32451210" y="17325974"/>
            <a:ext cx="10754190" cy="6755696"/>
          </a:xfrm>
          <a:prstGeom prst="rect">
            <a:avLst/>
          </a:prstGeom>
          <a:noFill/>
        </p:spPr>
        <p:txBody>
          <a:bodyPr wrap="square" numCol="1" rtlCol="0">
            <a:spAutoFit/>
          </a:bodyPr>
          <a:lstStyle/>
          <a:p>
            <a:pPr marL="502887" indent="-502887">
              <a:buFont typeface="Wingdings" panose="05000000000000000000" pitchFamily="2" charset="2"/>
              <a:buChar char="v"/>
            </a:pPr>
            <a:r>
              <a:rPr lang="en-US" sz="2800" dirty="0">
                <a:solidFill>
                  <a:schemeClr val="tx2"/>
                </a:solidFill>
                <a:latin typeface="Helvetica" panose="020B0604020202020204" pitchFamily="34" charset="0"/>
                <a:cs typeface="Helvetica" panose="020B0604020202020204" pitchFamily="34" charset="0"/>
              </a:rPr>
              <a:t>Bulk Fe</a:t>
            </a:r>
            <a:r>
              <a:rPr lang="en-US" sz="2800" baseline="-25000" dirty="0">
                <a:solidFill>
                  <a:schemeClr val="tx2"/>
                </a:solidFill>
                <a:latin typeface="Helvetica" panose="020B0604020202020204" pitchFamily="34" charset="0"/>
                <a:cs typeface="Helvetica" panose="020B0604020202020204" pitchFamily="34" charset="0"/>
              </a:rPr>
              <a:t>73.5</a:t>
            </a:r>
            <a:r>
              <a:rPr lang="en-US" sz="2800" dirty="0">
                <a:solidFill>
                  <a:schemeClr val="tx2"/>
                </a:solidFill>
                <a:latin typeface="Helvetica" panose="020B0604020202020204" pitchFamily="34" charset="0"/>
                <a:cs typeface="Helvetica" panose="020B0604020202020204" pitchFamily="34" charset="0"/>
              </a:rPr>
              <a:t>Nb</a:t>
            </a:r>
            <a:r>
              <a:rPr lang="en-US" sz="2800" baseline="-25000" dirty="0">
                <a:solidFill>
                  <a:schemeClr val="tx2"/>
                </a:solidFill>
                <a:latin typeface="Helvetica" panose="020B0604020202020204" pitchFamily="34" charset="0"/>
                <a:cs typeface="Helvetica" panose="020B0604020202020204" pitchFamily="34" charset="0"/>
              </a:rPr>
              <a:t>3</a:t>
            </a:r>
            <a:r>
              <a:rPr lang="en-US" sz="2800" dirty="0">
                <a:solidFill>
                  <a:schemeClr val="tx2"/>
                </a:solidFill>
                <a:latin typeface="Helvetica" panose="020B0604020202020204" pitchFamily="34" charset="0"/>
                <a:cs typeface="Helvetica" panose="020B0604020202020204" pitchFamily="34" charset="0"/>
              </a:rPr>
              <a:t>Cu</a:t>
            </a:r>
            <a:r>
              <a:rPr lang="en-US" sz="2800" baseline="-25000" dirty="0">
                <a:solidFill>
                  <a:schemeClr val="tx2"/>
                </a:solidFill>
                <a:latin typeface="Helvetica" panose="020B0604020202020204" pitchFamily="34" charset="0"/>
                <a:cs typeface="Helvetica" panose="020B0604020202020204" pitchFamily="34" charset="0"/>
              </a:rPr>
              <a:t>1</a:t>
            </a:r>
            <a:r>
              <a:rPr lang="en-US" sz="2800" dirty="0">
                <a:solidFill>
                  <a:schemeClr val="tx2"/>
                </a:solidFill>
                <a:latin typeface="Helvetica" panose="020B0604020202020204" pitchFamily="34" charset="0"/>
                <a:cs typeface="Helvetica" panose="020B0604020202020204" pitchFamily="34" charset="0"/>
              </a:rPr>
              <a:t>Z</a:t>
            </a:r>
            <a:r>
              <a:rPr lang="en-US" sz="2800" baseline="-25000" dirty="0">
                <a:solidFill>
                  <a:schemeClr val="tx2"/>
                </a:solidFill>
                <a:latin typeface="Helvetica" panose="020B0604020202020204" pitchFamily="34" charset="0"/>
                <a:cs typeface="Helvetica" panose="020B0604020202020204" pitchFamily="34" charset="0"/>
              </a:rPr>
              <a:t>13.5+x</a:t>
            </a:r>
            <a:r>
              <a:rPr lang="en-US" sz="2800" dirty="0">
                <a:solidFill>
                  <a:schemeClr val="tx2"/>
                </a:solidFill>
                <a:latin typeface="Helvetica" panose="020B0604020202020204" pitchFamily="34" charset="0"/>
                <a:cs typeface="Helvetica" panose="020B0604020202020204" pitchFamily="34" charset="0"/>
              </a:rPr>
              <a:t>B</a:t>
            </a:r>
            <a:r>
              <a:rPr lang="en-US" sz="2800" baseline="-25000" dirty="0">
                <a:solidFill>
                  <a:schemeClr val="tx2"/>
                </a:solidFill>
                <a:latin typeface="Helvetica" panose="020B0604020202020204" pitchFamily="34" charset="0"/>
                <a:cs typeface="Helvetica" panose="020B0604020202020204" pitchFamily="34" charset="0"/>
              </a:rPr>
              <a:t>9-x</a:t>
            </a:r>
            <a:r>
              <a:rPr lang="en-US" sz="2800" dirty="0">
                <a:solidFill>
                  <a:schemeClr val="tx2"/>
                </a:solidFill>
                <a:latin typeface="Helvetica" panose="020B0604020202020204" pitchFamily="34" charset="0"/>
                <a:cs typeface="Helvetica" panose="020B0604020202020204" pitchFamily="34" charset="0"/>
              </a:rPr>
              <a:t> (Z = Si, Ga) alloys were synthesized using arc-melting and annealing.</a:t>
            </a:r>
            <a:endParaRPr lang="en-US" sz="2900" dirty="0">
              <a:solidFill>
                <a:schemeClr val="tx2"/>
              </a:solidFill>
              <a:latin typeface="Helvetica" pitchFamily="2" charset="0"/>
            </a:endParaRPr>
          </a:p>
          <a:p>
            <a:pPr marL="502887" indent="-502887">
              <a:buFont typeface="Wingdings" panose="05000000000000000000" pitchFamily="2" charset="2"/>
              <a:buChar char="v"/>
            </a:pPr>
            <a:r>
              <a:rPr lang="en-US" sz="2900" dirty="0">
                <a:solidFill>
                  <a:schemeClr val="tx2"/>
                </a:solidFill>
                <a:latin typeface="Helvetica" pitchFamily="2" charset="0"/>
              </a:rPr>
              <a:t>As x increases, saturation magnetization decreases for both the series of compounds (except x = 0.25).</a:t>
            </a:r>
          </a:p>
          <a:p>
            <a:pPr marL="502887" indent="-502887">
              <a:buFont typeface="Wingdings" panose="05000000000000000000" pitchFamily="2" charset="2"/>
              <a:buChar char="v"/>
            </a:pP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Values of coercivity and remanence are too small to be known with certainty</a:t>
            </a:r>
            <a:r>
              <a:rPr lang="en-US" sz="2900" dirty="0">
                <a:solidFill>
                  <a:schemeClr val="tx2"/>
                </a:solidFill>
                <a:latin typeface="Helvetica" pitchFamily="2" charset="0"/>
              </a:rPr>
              <a:t>.</a:t>
            </a:r>
          </a:p>
          <a:p>
            <a:pPr marL="502887" indent="-502887">
              <a:buFont typeface="Wingdings" panose="05000000000000000000" pitchFamily="2" charset="2"/>
              <a:buChar char="v"/>
            </a:pPr>
            <a:r>
              <a:rPr lang="en-US" sz="2900" dirty="0">
                <a:solidFill>
                  <a:schemeClr val="tx2"/>
                </a:solidFill>
                <a:latin typeface="Helvetica" pitchFamily="2" charset="0"/>
              </a:rPr>
              <a:t>Permeability does not seem to follow any trend with x.</a:t>
            </a:r>
          </a:p>
          <a:p>
            <a:pPr marL="502887" indent="-502887">
              <a:buFont typeface="Wingdings" panose="05000000000000000000" pitchFamily="2" charset="2"/>
              <a:buChar char="v"/>
            </a:pPr>
            <a:r>
              <a:rPr lang="en-US" sz="2900" dirty="0">
                <a:solidFill>
                  <a:schemeClr val="tx2"/>
                </a:solidFill>
                <a:latin typeface="Helvetica" pitchFamily="2" charset="0"/>
              </a:rPr>
              <a:t>Highest value of relative permeability is found for x = 0.25 in </a:t>
            </a:r>
            <a:r>
              <a:rPr lang="en-US" sz="2900" dirty="0">
                <a:solidFill>
                  <a:schemeClr val="accent1"/>
                </a:solidFill>
                <a:latin typeface="Arial" panose="020B0604020202020204" pitchFamily="34" charset="0"/>
                <a:cs typeface="Arial" panose="020B0604020202020204" pitchFamily="34" charset="0"/>
              </a:rPr>
              <a:t>Fe</a:t>
            </a:r>
            <a:r>
              <a:rPr lang="en-US" sz="2900" baseline="-25000" dirty="0">
                <a:solidFill>
                  <a:schemeClr val="accent1"/>
                </a:solidFill>
                <a:latin typeface="Arial" panose="020B0604020202020204" pitchFamily="34" charset="0"/>
                <a:cs typeface="Arial" panose="020B0604020202020204" pitchFamily="34" charset="0"/>
              </a:rPr>
              <a:t>73.5</a:t>
            </a:r>
            <a:r>
              <a:rPr lang="en-US" sz="2900" dirty="0">
                <a:solidFill>
                  <a:schemeClr val="accent1"/>
                </a:solidFill>
                <a:latin typeface="Arial" panose="020B0604020202020204" pitchFamily="34" charset="0"/>
                <a:cs typeface="Arial" panose="020B0604020202020204" pitchFamily="34" charset="0"/>
              </a:rPr>
              <a:t>Nb</a:t>
            </a:r>
            <a:r>
              <a:rPr lang="en-US" sz="2900" baseline="-25000" dirty="0">
                <a:solidFill>
                  <a:schemeClr val="accent1"/>
                </a:solidFill>
                <a:latin typeface="Arial" panose="020B0604020202020204" pitchFamily="34" charset="0"/>
                <a:cs typeface="Arial" panose="020B0604020202020204" pitchFamily="34" charset="0"/>
              </a:rPr>
              <a:t>3</a:t>
            </a:r>
            <a:r>
              <a:rPr lang="en-US" sz="2900" dirty="0">
                <a:solidFill>
                  <a:schemeClr val="accent1"/>
                </a:solidFill>
                <a:latin typeface="Arial" panose="020B0604020202020204" pitchFamily="34" charset="0"/>
                <a:cs typeface="Arial" panose="020B0604020202020204" pitchFamily="34" charset="0"/>
              </a:rPr>
              <a:t>Cu</a:t>
            </a:r>
            <a:r>
              <a:rPr lang="en-US" sz="2900" baseline="-25000" dirty="0">
                <a:solidFill>
                  <a:schemeClr val="accent1"/>
                </a:solidFill>
                <a:latin typeface="Arial" panose="020B0604020202020204" pitchFamily="34" charset="0"/>
                <a:cs typeface="Arial" panose="020B0604020202020204" pitchFamily="34" charset="0"/>
              </a:rPr>
              <a:t>1</a:t>
            </a:r>
            <a:r>
              <a:rPr lang="en-US" sz="2900" dirty="0">
                <a:solidFill>
                  <a:schemeClr val="accent1"/>
                </a:solidFill>
                <a:latin typeface="Arial" panose="020B0604020202020204" pitchFamily="34" charset="0"/>
                <a:cs typeface="Arial" panose="020B0604020202020204" pitchFamily="34" charset="0"/>
              </a:rPr>
              <a:t>Ga</a:t>
            </a:r>
            <a:r>
              <a:rPr lang="en-US" sz="2900" baseline="-25000" dirty="0">
                <a:solidFill>
                  <a:schemeClr val="accent1"/>
                </a:solidFill>
                <a:latin typeface="Arial" panose="020B0604020202020204" pitchFamily="34" charset="0"/>
                <a:cs typeface="Arial" panose="020B0604020202020204" pitchFamily="34" charset="0"/>
              </a:rPr>
              <a:t>13.5+x</a:t>
            </a:r>
            <a:r>
              <a:rPr lang="en-US" sz="2900" dirty="0">
                <a:solidFill>
                  <a:schemeClr val="accent1"/>
                </a:solidFill>
                <a:latin typeface="Arial" panose="020B0604020202020204" pitchFamily="34" charset="0"/>
                <a:cs typeface="Arial" panose="020B0604020202020204" pitchFamily="34" charset="0"/>
              </a:rPr>
              <a:t>B</a:t>
            </a:r>
            <a:r>
              <a:rPr lang="en-US" sz="2900" baseline="-25000" dirty="0">
                <a:solidFill>
                  <a:schemeClr val="accent1"/>
                </a:solidFill>
                <a:latin typeface="Arial" panose="020B0604020202020204" pitchFamily="34" charset="0"/>
                <a:cs typeface="Arial" panose="020B0604020202020204" pitchFamily="34" charset="0"/>
              </a:rPr>
              <a:t>9-x </a:t>
            </a:r>
            <a:r>
              <a:rPr lang="en-US" sz="2900" dirty="0">
                <a:solidFill>
                  <a:schemeClr val="accent1"/>
                </a:solidFill>
                <a:latin typeface="Arial" panose="020B0604020202020204" pitchFamily="34" charset="0"/>
                <a:cs typeface="Arial" panose="020B0604020202020204" pitchFamily="34" charset="0"/>
              </a:rPr>
              <a:t>and x=0 in Fe</a:t>
            </a:r>
            <a:r>
              <a:rPr lang="en-US" sz="2900" baseline="-25000" dirty="0">
                <a:solidFill>
                  <a:schemeClr val="accent1"/>
                </a:solidFill>
                <a:latin typeface="Arial" panose="020B0604020202020204" pitchFamily="34" charset="0"/>
                <a:cs typeface="Arial" panose="020B0604020202020204" pitchFamily="34" charset="0"/>
              </a:rPr>
              <a:t>73.5</a:t>
            </a:r>
            <a:r>
              <a:rPr lang="en-US" sz="2900" dirty="0">
                <a:solidFill>
                  <a:schemeClr val="accent1"/>
                </a:solidFill>
                <a:latin typeface="Arial" panose="020B0604020202020204" pitchFamily="34" charset="0"/>
                <a:cs typeface="Arial" panose="020B0604020202020204" pitchFamily="34" charset="0"/>
              </a:rPr>
              <a:t>Nb</a:t>
            </a:r>
            <a:r>
              <a:rPr lang="en-US" sz="2900" baseline="-25000" dirty="0">
                <a:solidFill>
                  <a:schemeClr val="accent1"/>
                </a:solidFill>
                <a:latin typeface="Arial" panose="020B0604020202020204" pitchFamily="34" charset="0"/>
                <a:cs typeface="Arial" panose="020B0604020202020204" pitchFamily="34" charset="0"/>
              </a:rPr>
              <a:t>3</a:t>
            </a:r>
            <a:r>
              <a:rPr lang="en-US" sz="2900" dirty="0">
                <a:solidFill>
                  <a:schemeClr val="accent1"/>
                </a:solidFill>
                <a:latin typeface="Arial" panose="020B0604020202020204" pitchFamily="34" charset="0"/>
                <a:cs typeface="Arial" panose="020B0604020202020204" pitchFamily="34" charset="0"/>
              </a:rPr>
              <a:t>Cu</a:t>
            </a:r>
            <a:r>
              <a:rPr lang="en-US" sz="2900" baseline="-25000" dirty="0">
                <a:solidFill>
                  <a:schemeClr val="accent1"/>
                </a:solidFill>
                <a:latin typeface="Arial" panose="020B0604020202020204" pitchFamily="34" charset="0"/>
                <a:cs typeface="Arial" panose="020B0604020202020204" pitchFamily="34" charset="0"/>
              </a:rPr>
              <a:t>1</a:t>
            </a:r>
            <a:r>
              <a:rPr lang="en-US" sz="2900" dirty="0">
                <a:solidFill>
                  <a:schemeClr val="accent1"/>
                </a:solidFill>
                <a:latin typeface="Arial" panose="020B0604020202020204" pitchFamily="34" charset="0"/>
                <a:cs typeface="Arial" panose="020B0604020202020204" pitchFamily="34" charset="0"/>
              </a:rPr>
              <a:t>Si</a:t>
            </a:r>
            <a:r>
              <a:rPr lang="en-US" sz="2900" baseline="-25000" dirty="0">
                <a:solidFill>
                  <a:schemeClr val="accent1"/>
                </a:solidFill>
                <a:latin typeface="Arial" panose="020B0604020202020204" pitchFamily="34" charset="0"/>
                <a:cs typeface="Arial" panose="020B0604020202020204" pitchFamily="34" charset="0"/>
              </a:rPr>
              <a:t>13.5+x</a:t>
            </a:r>
            <a:r>
              <a:rPr lang="en-US" sz="2900" dirty="0">
                <a:solidFill>
                  <a:schemeClr val="accent1"/>
                </a:solidFill>
                <a:latin typeface="Arial" panose="020B0604020202020204" pitchFamily="34" charset="0"/>
                <a:cs typeface="Arial" panose="020B0604020202020204" pitchFamily="34" charset="0"/>
              </a:rPr>
              <a:t>B</a:t>
            </a:r>
            <a:r>
              <a:rPr lang="en-US" sz="2900" baseline="-25000" dirty="0">
                <a:solidFill>
                  <a:schemeClr val="accent1"/>
                </a:solidFill>
                <a:latin typeface="Arial" panose="020B0604020202020204" pitchFamily="34" charset="0"/>
                <a:cs typeface="Arial" panose="020B0604020202020204" pitchFamily="34" charset="0"/>
              </a:rPr>
              <a:t>9-x</a:t>
            </a:r>
            <a:r>
              <a:rPr lang="en-US" sz="2900" dirty="0">
                <a:solidFill>
                  <a:schemeClr val="accent1"/>
                </a:solidFill>
                <a:latin typeface="Arial" panose="020B0604020202020204" pitchFamily="34" charset="0"/>
                <a:cs typeface="Arial" panose="020B0604020202020204" pitchFamily="34" charset="0"/>
              </a:rPr>
              <a:t>.</a:t>
            </a:r>
            <a:endParaRPr lang="en-US" sz="2900" dirty="0">
              <a:solidFill>
                <a:schemeClr val="tx2"/>
              </a:solidFill>
              <a:latin typeface="Helvetica" pitchFamily="2" charset="0"/>
            </a:endParaRPr>
          </a:p>
          <a:p>
            <a:pPr marL="502887" indent="-502887">
              <a:buFont typeface="Wingdings" panose="05000000000000000000" pitchFamily="2" charset="2"/>
              <a:buChar char="v"/>
            </a:pP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For x = 0 and 0.5 (in Z= Si), additional phases appear, meaning higher quality samples will need to be made to produce better properties.</a:t>
            </a:r>
          </a:p>
          <a:p>
            <a:pPr marL="502887" indent="-502887">
              <a:buFont typeface="Wingdings" panose="05000000000000000000" pitchFamily="2" charset="2"/>
              <a:buChar char="v"/>
            </a:pPr>
            <a:r>
              <a:rPr lang="en-US" sz="2900" dirty="0">
                <a:solidFill>
                  <a:schemeClr val="tx2"/>
                </a:solidFill>
                <a:latin typeface="Helvetica" pitchFamily="2" charset="0"/>
              </a:rPr>
              <a:t>In order to better understand the effect of changes in Ga (Si) and B concentration, amorphous and nanocrystalline alloy ribbons will be made and studied.</a:t>
            </a:r>
          </a:p>
        </p:txBody>
      </p:sp>
      <p:sp>
        <p:nvSpPr>
          <p:cNvPr id="53" name="Round Same Side Corner Rectangle 52" descr="References header">
            <a:extLst>
              <a:ext uri="{FF2B5EF4-FFF2-40B4-BE49-F238E27FC236}">
                <a16:creationId xmlns:a16="http://schemas.microsoft.com/office/drawing/2014/main" id="{71E83305-8379-334B-9C74-8CD4D14230AB}"/>
              </a:ext>
            </a:extLst>
          </p:cNvPr>
          <p:cNvSpPr/>
          <p:nvPr/>
        </p:nvSpPr>
        <p:spPr>
          <a:xfrm>
            <a:off x="32364371" y="27474102"/>
            <a:ext cx="10948437" cy="1043373"/>
          </a:xfrm>
          <a:prstGeom prst="round2Same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657" b="1" dirty="0">
                <a:solidFill>
                  <a:schemeClr val="accent2"/>
                </a:solidFill>
                <a:latin typeface="Helvetica" pitchFamily="2" charset="0"/>
              </a:rPr>
              <a:t>References</a:t>
            </a:r>
          </a:p>
        </p:txBody>
      </p:sp>
      <p:sp>
        <p:nvSpPr>
          <p:cNvPr id="52" name="Rectangle 51">
            <a:extLst>
              <a:ext uri="{FF2B5EF4-FFF2-40B4-BE49-F238E27FC236}">
                <a16:creationId xmlns:a16="http://schemas.microsoft.com/office/drawing/2014/main" id="{FB181BC0-3F7D-DC49-8F75-70F6FACCC6F0}"/>
              </a:ext>
              <a:ext uri="{C183D7F6-B498-43B3-948B-1728B52AA6E4}">
                <adec:decorative xmlns:adec="http://schemas.microsoft.com/office/drawing/2017/decorative" val="1"/>
              </a:ext>
            </a:extLst>
          </p:cNvPr>
          <p:cNvSpPr/>
          <p:nvPr/>
        </p:nvSpPr>
        <p:spPr>
          <a:xfrm>
            <a:off x="32364371" y="28720472"/>
            <a:ext cx="10948435" cy="3835725"/>
          </a:xfrm>
          <a:prstGeom prst="rect">
            <a:avLst/>
          </a:prstGeom>
          <a:solidFill>
            <a:srgbClr val="C6D2E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TextBox 72" descr="References textbox">
            <a:extLst>
              <a:ext uri="{FF2B5EF4-FFF2-40B4-BE49-F238E27FC236}">
                <a16:creationId xmlns:a16="http://schemas.microsoft.com/office/drawing/2014/main" id="{603DA13B-F529-9F46-ADEC-F7E50748B8EC}"/>
              </a:ext>
            </a:extLst>
          </p:cNvPr>
          <p:cNvSpPr txBox="1"/>
          <p:nvPr/>
        </p:nvSpPr>
        <p:spPr>
          <a:xfrm>
            <a:off x="32396642" y="29213207"/>
            <a:ext cx="10842394" cy="2769989"/>
          </a:xfrm>
          <a:prstGeom prst="rect">
            <a:avLst/>
          </a:prstGeom>
          <a:noFill/>
        </p:spPr>
        <p:txBody>
          <a:bodyPr wrap="square" numCol="1" rtlCol="0">
            <a:spAutoFit/>
          </a:bodyPr>
          <a:lstStyle/>
          <a:p>
            <a:pPr marL="440831" indent="-440831">
              <a:buAutoNum type="arabicPeriod"/>
            </a:pPr>
            <a:r>
              <a:rPr lang="fr-FR" sz="2900" dirty="0">
                <a:solidFill>
                  <a:schemeClr val="tx2"/>
                </a:solidFill>
                <a:latin typeface="Helvetica" panose="020B0604020202020204" pitchFamily="34" charset="0"/>
                <a:cs typeface="Helvetica" panose="020B0604020202020204" pitchFamily="34" charset="0"/>
              </a:rPr>
              <a:t>J. M. </a:t>
            </a:r>
            <a:r>
              <a:rPr lang="fr-FR" sz="2900" dirty="0" err="1">
                <a:solidFill>
                  <a:schemeClr val="tx2"/>
                </a:solidFill>
                <a:latin typeface="Helvetica" panose="020B0604020202020204" pitchFamily="34" charset="0"/>
                <a:cs typeface="Helvetica" panose="020B0604020202020204" pitchFamily="34" charset="0"/>
              </a:rPr>
              <a:t>Silveyra</a:t>
            </a:r>
            <a:r>
              <a:rPr lang="fr-FR" sz="2900" dirty="0">
                <a:solidFill>
                  <a:schemeClr val="tx2"/>
                </a:solidFill>
                <a:latin typeface="Helvetica" panose="020B0604020202020204" pitchFamily="34" charset="0"/>
                <a:cs typeface="Helvetica" panose="020B0604020202020204" pitchFamily="34" charset="0"/>
              </a:rPr>
              <a:t> et al., Soft </a:t>
            </a:r>
            <a:r>
              <a:rPr lang="fr-FR" sz="2900" dirty="0" err="1">
                <a:solidFill>
                  <a:schemeClr val="tx2"/>
                </a:solidFill>
                <a:latin typeface="Helvetica" panose="020B0604020202020204" pitchFamily="34" charset="0"/>
                <a:cs typeface="Helvetica" panose="020B0604020202020204" pitchFamily="34" charset="0"/>
              </a:rPr>
              <a:t>magnetic</a:t>
            </a:r>
            <a:r>
              <a:rPr lang="fr-FR" sz="2900" dirty="0">
                <a:solidFill>
                  <a:schemeClr val="tx2"/>
                </a:solidFill>
                <a:latin typeface="Helvetica" panose="020B0604020202020204" pitchFamily="34" charset="0"/>
                <a:cs typeface="Helvetica" panose="020B0604020202020204" pitchFamily="34" charset="0"/>
              </a:rPr>
              <a:t> </a:t>
            </a:r>
            <a:r>
              <a:rPr lang="fr-FR" sz="2900" dirty="0" err="1">
                <a:solidFill>
                  <a:schemeClr val="tx2"/>
                </a:solidFill>
                <a:latin typeface="Helvetica" panose="020B0604020202020204" pitchFamily="34" charset="0"/>
                <a:cs typeface="Helvetica" panose="020B0604020202020204" pitchFamily="34" charset="0"/>
              </a:rPr>
              <a:t>materials</a:t>
            </a:r>
            <a:r>
              <a:rPr lang="fr-FR" sz="2900" dirty="0">
                <a:solidFill>
                  <a:schemeClr val="tx2"/>
                </a:solidFill>
                <a:latin typeface="Helvetica" panose="020B0604020202020204" pitchFamily="34" charset="0"/>
                <a:cs typeface="Helvetica" panose="020B0604020202020204" pitchFamily="34" charset="0"/>
              </a:rPr>
              <a:t> for a </a:t>
            </a:r>
            <a:r>
              <a:rPr lang="fr-FR" sz="2900" dirty="0" err="1">
                <a:solidFill>
                  <a:schemeClr val="tx2"/>
                </a:solidFill>
                <a:latin typeface="Helvetica" panose="020B0604020202020204" pitchFamily="34" charset="0"/>
                <a:cs typeface="Helvetica" panose="020B0604020202020204" pitchFamily="34" charset="0"/>
              </a:rPr>
              <a:t>sustainable</a:t>
            </a:r>
            <a:r>
              <a:rPr lang="fr-FR" sz="2900" dirty="0">
                <a:solidFill>
                  <a:schemeClr val="tx2"/>
                </a:solidFill>
                <a:latin typeface="Helvetica" panose="020B0604020202020204" pitchFamily="34" charset="0"/>
                <a:cs typeface="Helvetica" panose="020B0604020202020204" pitchFamily="34" charset="0"/>
              </a:rPr>
              <a:t> and </a:t>
            </a:r>
            <a:r>
              <a:rPr lang="fr-FR" sz="2900" dirty="0" err="1">
                <a:solidFill>
                  <a:schemeClr val="tx2"/>
                </a:solidFill>
                <a:latin typeface="Helvetica" panose="020B0604020202020204" pitchFamily="34" charset="0"/>
                <a:cs typeface="Helvetica" panose="020B0604020202020204" pitchFamily="34" charset="0"/>
              </a:rPr>
              <a:t>electrified</a:t>
            </a:r>
            <a:r>
              <a:rPr lang="fr-FR" sz="2900" dirty="0">
                <a:solidFill>
                  <a:schemeClr val="tx2"/>
                </a:solidFill>
                <a:latin typeface="Helvetica" panose="020B0604020202020204" pitchFamily="34" charset="0"/>
                <a:cs typeface="Helvetica" panose="020B0604020202020204" pitchFamily="34" charset="0"/>
              </a:rPr>
              <a:t> world, </a:t>
            </a:r>
            <a:r>
              <a:rPr lang="fr-FR" sz="2900" i="1" dirty="0">
                <a:solidFill>
                  <a:schemeClr val="tx2"/>
                </a:solidFill>
                <a:latin typeface="Helvetica" panose="020B0604020202020204" pitchFamily="34" charset="0"/>
                <a:cs typeface="Helvetica" panose="020B0604020202020204" pitchFamily="34" charset="0"/>
              </a:rPr>
              <a:t>Science </a:t>
            </a:r>
            <a:r>
              <a:rPr lang="fr-FR" sz="2900" b="1" i="1" dirty="0">
                <a:solidFill>
                  <a:schemeClr val="tx2"/>
                </a:solidFill>
                <a:latin typeface="Helvetica" panose="020B0604020202020204" pitchFamily="34" charset="0"/>
                <a:cs typeface="Helvetica" panose="020B0604020202020204" pitchFamily="34" charset="0"/>
              </a:rPr>
              <a:t>362</a:t>
            </a:r>
            <a:r>
              <a:rPr lang="fr-FR" sz="2900" dirty="0">
                <a:solidFill>
                  <a:schemeClr val="tx2"/>
                </a:solidFill>
                <a:latin typeface="Helvetica" panose="020B0604020202020204" pitchFamily="34" charset="0"/>
                <a:cs typeface="Helvetica" panose="020B0604020202020204" pitchFamily="34" charset="0"/>
              </a:rPr>
              <a:t>, eaao0195 (2018).</a:t>
            </a:r>
          </a:p>
          <a:p>
            <a:pPr marL="440831" indent="-440831">
              <a:buAutoNum type="arabicPeriod"/>
            </a:pPr>
            <a:endParaRPr lang="fr-FR" sz="2900" dirty="0">
              <a:solidFill>
                <a:schemeClr val="tx2"/>
              </a:solidFill>
              <a:latin typeface="Helvetica" panose="020B0604020202020204" pitchFamily="34" charset="0"/>
              <a:cs typeface="Helvetica" panose="020B0604020202020204" pitchFamily="34" charset="0"/>
            </a:endParaRPr>
          </a:p>
          <a:p>
            <a:pPr marL="440831" indent="-440831">
              <a:buAutoNum type="arabicPeriod"/>
            </a:pPr>
            <a:r>
              <a:rPr lang="en-US" sz="2900" dirty="0">
                <a:solidFill>
                  <a:schemeClr val="tx2"/>
                </a:solidFill>
                <a:latin typeface="Helvetica" panose="020B0604020202020204" pitchFamily="34" charset="0"/>
                <a:cs typeface="Helvetica" panose="020B0604020202020204" pitchFamily="34" charset="0"/>
              </a:rPr>
              <a:t>Y. Wang, Y. Zhang, A. Makino, Y. Kawazoe, First principle study on the Si effect in the Fe-based soft magnetic nano-crystalline alloys, </a:t>
            </a:r>
            <a:r>
              <a:rPr lang="en-US" sz="2900" i="1" dirty="0">
                <a:solidFill>
                  <a:schemeClr val="tx2"/>
                </a:solidFill>
                <a:latin typeface="Helvetica" panose="020B0604020202020204" pitchFamily="34" charset="0"/>
                <a:cs typeface="Helvetica" panose="020B0604020202020204" pitchFamily="34" charset="0"/>
              </a:rPr>
              <a:t>J. Alloys Compd. </a:t>
            </a:r>
            <a:r>
              <a:rPr lang="en-US" sz="2900" b="1" i="1" dirty="0">
                <a:solidFill>
                  <a:schemeClr val="tx2"/>
                </a:solidFill>
                <a:latin typeface="Helvetica" panose="020B0604020202020204" pitchFamily="34" charset="0"/>
                <a:cs typeface="Helvetica" panose="020B0604020202020204" pitchFamily="34" charset="0"/>
              </a:rPr>
              <a:t>730</a:t>
            </a:r>
            <a:r>
              <a:rPr lang="en-US" sz="2900" i="1" dirty="0">
                <a:solidFill>
                  <a:schemeClr val="tx2"/>
                </a:solidFill>
                <a:latin typeface="Helvetica" panose="020B0604020202020204" pitchFamily="34" charset="0"/>
                <a:cs typeface="Helvetica" panose="020B0604020202020204" pitchFamily="34" charset="0"/>
              </a:rPr>
              <a:t>,</a:t>
            </a:r>
            <a:r>
              <a:rPr lang="en-US" sz="2900" dirty="0">
                <a:solidFill>
                  <a:schemeClr val="tx2"/>
                </a:solidFill>
                <a:latin typeface="Helvetica" panose="020B0604020202020204" pitchFamily="34" charset="0"/>
                <a:cs typeface="Helvetica" panose="020B0604020202020204" pitchFamily="34" charset="0"/>
              </a:rPr>
              <a:t> 196-200 (2018) .</a:t>
            </a:r>
          </a:p>
        </p:txBody>
      </p:sp>
      <p:sp>
        <p:nvSpPr>
          <p:cNvPr id="44" name="Round Same Side Corner Rectangle 52" descr="References header">
            <a:extLst>
              <a:ext uri="{FF2B5EF4-FFF2-40B4-BE49-F238E27FC236}">
                <a16:creationId xmlns:a16="http://schemas.microsoft.com/office/drawing/2014/main" id="{D40D6EEB-1D92-4C4E-8C9D-E5B624756EC3}"/>
              </a:ext>
            </a:extLst>
          </p:cNvPr>
          <p:cNvSpPr/>
          <p:nvPr/>
        </p:nvSpPr>
        <p:spPr>
          <a:xfrm>
            <a:off x="32364371" y="24630911"/>
            <a:ext cx="10948435" cy="1043373"/>
          </a:xfrm>
          <a:prstGeom prst="round2Same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657" b="1" dirty="0">
                <a:solidFill>
                  <a:schemeClr val="accent2"/>
                </a:solidFill>
                <a:latin typeface="Helvetica" pitchFamily="2" charset="0"/>
              </a:rPr>
              <a:t>Acknowledgments</a:t>
            </a:r>
          </a:p>
        </p:txBody>
      </p:sp>
      <p:sp>
        <p:nvSpPr>
          <p:cNvPr id="45" name="Rectangle 44">
            <a:extLst>
              <a:ext uri="{FF2B5EF4-FFF2-40B4-BE49-F238E27FC236}">
                <a16:creationId xmlns:a16="http://schemas.microsoft.com/office/drawing/2014/main" id="{E34CBE4C-B250-49ED-B3A4-4E501908ECBA}"/>
              </a:ext>
              <a:ext uri="{C183D7F6-B498-43B3-948B-1728B52AA6E4}">
                <adec:decorative xmlns:adec="http://schemas.microsoft.com/office/drawing/2017/decorative" val="1"/>
              </a:ext>
            </a:extLst>
          </p:cNvPr>
          <p:cNvSpPr/>
          <p:nvPr/>
        </p:nvSpPr>
        <p:spPr>
          <a:xfrm>
            <a:off x="32364371" y="25877281"/>
            <a:ext cx="10948435" cy="1393824"/>
          </a:xfrm>
          <a:prstGeom prst="rect">
            <a:avLst/>
          </a:prstGeom>
          <a:solidFill>
            <a:srgbClr val="C6D2E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a16="http://schemas.microsoft.com/office/drawing/2014/main" id="{2997C3D7-02E0-48A4-ADFD-9FB47B4D9230}"/>
              </a:ext>
            </a:extLst>
          </p:cNvPr>
          <p:cNvSpPr txBox="1"/>
          <p:nvPr/>
        </p:nvSpPr>
        <p:spPr>
          <a:xfrm>
            <a:off x="32364371" y="25941442"/>
            <a:ext cx="10557152" cy="1431161"/>
          </a:xfrm>
          <a:prstGeom prst="rect">
            <a:avLst/>
          </a:prstGeom>
          <a:noFill/>
        </p:spPr>
        <p:txBody>
          <a:bodyPr wrap="square" numCol="1" rtlCol="0">
            <a:spAutoFit/>
          </a:bodyPr>
          <a:lstStyle/>
          <a:p>
            <a:pPr marL="391850" indent="-391850">
              <a:buFont typeface="Wingdings" panose="05000000000000000000" pitchFamily="2" charset="2"/>
              <a:buChar char="v"/>
            </a:pPr>
            <a:r>
              <a:rPr lang="en-US" sz="2900" dirty="0">
                <a:solidFill>
                  <a:schemeClr val="tx2"/>
                </a:solidFill>
                <a:latin typeface="Helvetica" panose="020B0604020202020204" pitchFamily="34" charset="0"/>
                <a:ea typeface="Times New Roman" panose="02020603050405020304" pitchFamily="18" charset="0"/>
                <a:cs typeface="Helvetica" panose="020B0604020202020204" pitchFamily="34" charset="0"/>
              </a:rPr>
              <a:t>This research is supported by NASA grant number 80NSSC21M0326. M. Anas is supported by DOE </a:t>
            </a:r>
            <a:r>
              <a:rPr lang="en-US" sz="2900" dirty="0" err="1">
                <a:solidFill>
                  <a:schemeClr val="tx2"/>
                </a:solidFill>
                <a:latin typeface="Helvetica" panose="020B0604020202020204" pitchFamily="34" charset="0"/>
                <a:ea typeface="Times New Roman" panose="02020603050405020304" pitchFamily="18" charset="0"/>
                <a:cs typeface="Helvetica" panose="020B0604020202020204" pitchFamily="34" charset="0"/>
              </a:rPr>
              <a:t>EPSCoR</a:t>
            </a:r>
            <a:r>
              <a:rPr lang="en-US" sz="2900" dirty="0">
                <a:solidFill>
                  <a:schemeClr val="tx2"/>
                </a:solidFill>
                <a:latin typeface="Helvetica" panose="020B0604020202020204" pitchFamily="34" charset="0"/>
                <a:ea typeface="Times New Roman" panose="02020603050405020304" pitchFamily="18" charset="0"/>
                <a:cs typeface="Helvetica" panose="020B0604020202020204" pitchFamily="34" charset="0"/>
              </a:rPr>
              <a:t> (DE-SC0024284) grant.</a:t>
            </a:r>
            <a:endPar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endParaRPr>
          </a:p>
        </p:txBody>
      </p:sp>
      <p:sp>
        <p:nvSpPr>
          <p:cNvPr id="47" name="TextBox 46" descr="Results text box, bulleted points">
            <a:extLst>
              <a:ext uri="{FF2B5EF4-FFF2-40B4-BE49-F238E27FC236}">
                <a16:creationId xmlns:a16="http://schemas.microsoft.com/office/drawing/2014/main" id="{6FB2B1BE-38DA-4FE8-BD43-5D88F89F03C8}"/>
              </a:ext>
            </a:extLst>
          </p:cNvPr>
          <p:cNvSpPr txBox="1"/>
          <p:nvPr/>
        </p:nvSpPr>
        <p:spPr>
          <a:xfrm>
            <a:off x="652164" y="21965518"/>
            <a:ext cx="10058397" cy="8956298"/>
          </a:xfrm>
          <a:prstGeom prst="rect">
            <a:avLst/>
          </a:prstGeom>
          <a:noFill/>
        </p:spPr>
        <p:txBody>
          <a:bodyPr wrap="square" numCol="1" rtlCol="0">
            <a:spAutoFit/>
          </a:bodyPr>
          <a:lstStyle/>
          <a:p>
            <a:pPr marL="502887" indent="-502887">
              <a:buFont typeface="Wingdings" panose="05000000000000000000" pitchFamily="2" charset="2"/>
              <a:buChar char="v"/>
            </a:pPr>
            <a:r>
              <a:rPr lang="en-US" sz="3200" dirty="0">
                <a:solidFill>
                  <a:schemeClr val="tx2"/>
                </a:solidFill>
                <a:latin typeface="Helvetica" pitchFamily="2" charset="0"/>
              </a:rPr>
              <a:t>The metal pieces required for the synthesis of each sample were cut from commercially available high-purity pellets or fragments.</a:t>
            </a:r>
          </a:p>
          <a:p>
            <a:endParaRPr lang="en-US" sz="3200" dirty="0">
              <a:solidFill>
                <a:schemeClr val="tx2"/>
              </a:solidFill>
              <a:latin typeface="Helvetica" pitchFamily="2" charset="0"/>
            </a:endParaRPr>
          </a:p>
          <a:p>
            <a:pPr marL="502887" indent="-502887">
              <a:buFont typeface="Wingdings" panose="05000000000000000000" pitchFamily="2" charset="2"/>
              <a:buChar char="v"/>
            </a:pPr>
            <a:r>
              <a:rPr lang="en-US" sz="3200" dirty="0">
                <a:solidFill>
                  <a:schemeClr val="tx2"/>
                </a:solidFill>
                <a:latin typeface="Helvetica" pitchFamily="2" charset="0"/>
              </a:rPr>
              <a:t>The alloys were synthesized in a water-cooled copper-hearth of arc-</a:t>
            </a:r>
            <a:r>
              <a:rPr lang="en-US" sz="3200" dirty="0" err="1">
                <a:solidFill>
                  <a:schemeClr val="tx2"/>
                </a:solidFill>
                <a:latin typeface="Helvetica" pitchFamily="2" charset="0"/>
              </a:rPr>
              <a:t>melter</a:t>
            </a:r>
            <a:r>
              <a:rPr lang="en-US" sz="3200" dirty="0">
                <a:solidFill>
                  <a:schemeClr val="tx2"/>
                </a:solidFill>
                <a:latin typeface="Helvetica" pitchFamily="2" charset="0"/>
              </a:rPr>
              <a:t> under an argon atmosphere. </a:t>
            </a:r>
          </a:p>
          <a:p>
            <a:pPr marL="502887" indent="-502887">
              <a:buFont typeface="Wingdings" panose="05000000000000000000" pitchFamily="2" charset="2"/>
              <a:buChar char="v"/>
            </a:pPr>
            <a:endParaRPr lang="en-US" sz="3200" dirty="0">
              <a:solidFill>
                <a:schemeClr val="tx2"/>
              </a:solidFill>
              <a:latin typeface="Helvetica" pitchFamily="2" charset="0"/>
            </a:endParaRPr>
          </a:p>
          <a:p>
            <a:pPr marL="502887" indent="-502887">
              <a:buFont typeface="Wingdings" panose="05000000000000000000" pitchFamily="2" charset="2"/>
              <a:buChar char="v"/>
            </a:pPr>
            <a:r>
              <a:rPr lang="en-US" sz="3200" dirty="0">
                <a:solidFill>
                  <a:schemeClr val="tx2"/>
                </a:solidFill>
                <a:latin typeface="Helvetica" pitchFamily="2" charset="0"/>
              </a:rPr>
              <a:t>The synthesized ingots were annealed at 600°C for 24 hours in a tube furnace in vacuum.</a:t>
            </a:r>
          </a:p>
          <a:p>
            <a:endParaRPr lang="en-US" sz="3200" dirty="0">
              <a:solidFill>
                <a:schemeClr val="tx2"/>
              </a:solidFill>
              <a:latin typeface="Helvetica" pitchFamily="2" charset="0"/>
            </a:endParaRPr>
          </a:p>
          <a:p>
            <a:pPr marL="502887" indent="-502887">
              <a:buFont typeface="Wingdings" panose="05000000000000000000" pitchFamily="2" charset="2"/>
              <a:buChar char="v"/>
            </a:pPr>
            <a:r>
              <a:rPr lang="en-US" sz="3200" dirty="0">
                <a:solidFill>
                  <a:schemeClr val="tx2"/>
                </a:solidFill>
                <a:latin typeface="Helvetica" pitchFamily="2" charset="0"/>
              </a:rPr>
              <a:t>X-Ray diffraction measurements were performed on each sample to study their crystal structures using the Rigaku </a:t>
            </a:r>
            <a:r>
              <a:rPr lang="en-US" sz="3200" dirty="0" err="1">
                <a:solidFill>
                  <a:schemeClr val="tx2"/>
                </a:solidFill>
                <a:latin typeface="Helvetica" pitchFamily="2" charset="0"/>
              </a:rPr>
              <a:t>MiniFlex</a:t>
            </a:r>
            <a:r>
              <a:rPr lang="en-US" sz="3200" dirty="0">
                <a:solidFill>
                  <a:schemeClr val="tx2"/>
                </a:solidFill>
                <a:latin typeface="Helvetica" pitchFamily="2" charset="0"/>
              </a:rPr>
              <a:t> 600 X-Ray Diffractometer.</a:t>
            </a:r>
          </a:p>
          <a:p>
            <a:endParaRPr lang="en-US" sz="3200" dirty="0">
              <a:solidFill>
                <a:schemeClr val="tx2"/>
              </a:solidFill>
              <a:latin typeface="Helvetica" pitchFamily="2" charset="0"/>
            </a:endParaRPr>
          </a:p>
          <a:p>
            <a:pPr marL="502887" indent="-502887">
              <a:buFont typeface="Wingdings" panose="05000000000000000000" pitchFamily="2" charset="2"/>
              <a:buChar char="v"/>
            </a:pPr>
            <a:r>
              <a:rPr lang="en-US" sz="3200" dirty="0">
                <a:solidFill>
                  <a:schemeClr val="tx2"/>
                </a:solidFill>
                <a:latin typeface="Helvetica" pitchFamily="2" charset="0"/>
              </a:rPr>
              <a:t>Magnetic measurements were made on each sample using the Quantum Design VersaLab Magnetometer.</a:t>
            </a:r>
          </a:p>
        </p:txBody>
      </p:sp>
      <p:sp>
        <p:nvSpPr>
          <p:cNvPr id="16" name="AutoShape 6" descr="APS March Meeting 2022">
            <a:extLst>
              <a:ext uri="{FF2B5EF4-FFF2-40B4-BE49-F238E27FC236}">
                <a16:creationId xmlns:a16="http://schemas.microsoft.com/office/drawing/2014/main" id="{F36BA64F-5BEB-4309-87FC-97B5E168694C}"/>
              </a:ext>
            </a:extLst>
          </p:cNvPr>
          <p:cNvSpPr>
            <a:spLocks noChangeAspect="1" noChangeArrowheads="1"/>
          </p:cNvSpPr>
          <p:nvPr/>
        </p:nvSpPr>
        <p:spPr bwMode="auto">
          <a:xfrm>
            <a:off x="17956530" y="12613788"/>
            <a:ext cx="3853543" cy="38535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8377" tIns="39189" rIns="78377" bIns="39189" numCol="1" anchor="t" anchorCtr="0" compatLnSpc="1">
            <a:prstTxWarp prst="textNoShape">
              <a:avLst/>
            </a:prstTxWarp>
          </a:bodyPr>
          <a:lstStyle/>
          <a:p>
            <a:endParaRPr lang="en-US" sz="6221"/>
          </a:p>
        </p:txBody>
      </p:sp>
      <p:sp>
        <p:nvSpPr>
          <p:cNvPr id="5" name="TextBox 4">
            <a:extLst>
              <a:ext uri="{FF2B5EF4-FFF2-40B4-BE49-F238E27FC236}">
                <a16:creationId xmlns:a16="http://schemas.microsoft.com/office/drawing/2014/main" id="{5E7605E0-D4AF-68ED-06B7-20EC5A02686D}"/>
              </a:ext>
            </a:extLst>
          </p:cNvPr>
          <p:cNvSpPr txBox="1"/>
          <p:nvPr/>
        </p:nvSpPr>
        <p:spPr>
          <a:xfrm>
            <a:off x="5659050" y="2339366"/>
            <a:ext cx="32573100" cy="1049646"/>
          </a:xfrm>
          <a:prstGeom prst="rect">
            <a:avLst/>
          </a:prstGeom>
          <a:noFill/>
        </p:spPr>
        <p:txBody>
          <a:bodyPr wrap="square" rtlCol="0">
            <a:spAutoFit/>
          </a:bodyPr>
          <a:lstStyle/>
          <a:p>
            <a:pPr algn="ctr"/>
            <a:r>
              <a:rPr lang="en-US" sz="6221" u="sng" dirty="0">
                <a:solidFill>
                  <a:schemeClr val="bg1"/>
                </a:solidFill>
                <a:latin typeface="Times New Roman" panose="02020603050405020304" pitchFamily="18" charset="0"/>
                <a:cs typeface="Times New Roman" panose="02020603050405020304" pitchFamily="18" charset="0"/>
              </a:rPr>
              <a:t>Manish Neupane</a:t>
            </a:r>
            <a:r>
              <a:rPr lang="en-US" sz="6221" dirty="0">
                <a:solidFill>
                  <a:schemeClr val="bg1"/>
                </a:solidFill>
                <a:latin typeface="Times New Roman" panose="02020603050405020304" pitchFamily="18" charset="0"/>
                <a:cs typeface="Times New Roman" panose="02020603050405020304" pitchFamily="18" charset="0"/>
              </a:rPr>
              <a:t>, Cole Brown, Mohd Anas, and </a:t>
            </a:r>
            <a:r>
              <a:rPr lang="en-US" sz="6221" dirty="0" err="1">
                <a:solidFill>
                  <a:schemeClr val="bg1"/>
                </a:solidFill>
                <a:latin typeface="Times New Roman" panose="02020603050405020304" pitchFamily="18" charset="0"/>
                <a:cs typeface="Times New Roman" panose="02020603050405020304" pitchFamily="18" charset="0"/>
              </a:rPr>
              <a:t>Parashu</a:t>
            </a:r>
            <a:r>
              <a:rPr lang="en-US" sz="6221" dirty="0">
                <a:solidFill>
                  <a:schemeClr val="bg1"/>
                </a:solidFill>
                <a:latin typeface="Times New Roman" panose="02020603050405020304" pitchFamily="18" charset="0"/>
                <a:cs typeface="Times New Roman" panose="02020603050405020304" pitchFamily="18" charset="0"/>
              </a:rPr>
              <a:t> </a:t>
            </a:r>
            <a:r>
              <a:rPr lang="en-US" sz="6221" dirty="0" err="1">
                <a:solidFill>
                  <a:schemeClr val="bg1"/>
                </a:solidFill>
                <a:latin typeface="Times New Roman" panose="02020603050405020304" pitchFamily="18" charset="0"/>
                <a:cs typeface="Times New Roman" panose="02020603050405020304" pitchFamily="18" charset="0"/>
              </a:rPr>
              <a:t>Kharel</a:t>
            </a:r>
            <a:endParaRPr lang="en-US" sz="6221" dirty="0">
              <a:solidFill>
                <a:schemeClr val="bg1"/>
              </a:solidFill>
              <a:latin typeface="Times New Roman" panose="02020603050405020304" pitchFamily="18" charset="0"/>
              <a:cs typeface="Times New Roman" panose="02020603050405020304" pitchFamily="18" charset="0"/>
            </a:endParaRPr>
          </a:p>
        </p:txBody>
      </p:sp>
      <p:sp>
        <p:nvSpPr>
          <p:cNvPr id="22" name="Round Same Side Corner Rectangle 47" descr="Results header">
            <a:extLst>
              <a:ext uri="{FF2B5EF4-FFF2-40B4-BE49-F238E27FC236}">
                <a16:creationId xmlns:a16="http://schemas.microsoft.com/office/drawing/2014/main" id="{E4900C4C-A48F-F549-F9DD-68C1B30653CE}"/>
              </a:ext>
            </a:extLst>
          </p:cNvPr>
          <p:cNvSpPr/>
          <p:nvPr/>
        </p:nvSpPr>
        <p:spPr>
          <a:xfrm>
            <a:off x="11314032" y="5206679"/>
            <a:ext cx="20730820" cy="934467"/>
          </a:xfrm>
          <a:prstGeom prst="round2Same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657" b="1" dirty="0">
                <a:solidFill>
                  <a:schemeClr val="accent2"/>
                </a:solidFill>
                <a:latin typeface="Helvetica" pitchFamily="2" charset="0"/>
              </a:rPr>
              <a:t>Magnetic Properties</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l="-130" t="9735" r="130" b="-169"/>
          <a:stretch/>
        </p:blipFill>
        <p:spPr>
          <a:xfrm>
            <a:off x="32916655" y="6381351"/>
            <a:ext cx="9802368" cy="6783597"/>
          </a:xfrm>
          <a:prstGeom prst="rect">
            <a:avLst/>
          </a:prstGeom>
        </p:spPr>
      </p:pic>
      <p:sp>
        <p:nvSpPr>
          <p:cNvPr id="30" name="TextBox 29">
            <a:extLst>
              <a:ext uri="{FF2B5EF4-FFF2-40B4-BE49-F238E27FC236}">
                <a16:creationId xmlns:a16="http://schemas.microsoft.com/office/drawing/2014/main" id="{2997C3D7-02E0-48A4-ADFD-9FB47B4D9230}"/>
              </a:ext>
            </a:extLst>
          </p:cNvPr>
          <p:cNvSpPr txBox="1"/>
          <p:nvPr/>
        </p:nvSpPr>
        <p:spPr>
          <a:xfrm>
            <a:off x="32425809" y="13230853"/>
            <a:ext cx="10557152" cy="2323713"/>
          </a:xfrm>
          <a:prstGeom prst="rect">
            <a:avLst/>
          </a:prstGeom>
          <a:noFill/>
        </p:spPr>
        <p:txBody>
          <a:bodyPr wrap="square" numCol="1" rtlCol="0">
            <a:spAutoFit/>
          </a:bodyPr>
          <a:lstStyle/>
          <a:p>
            <a:pPr marL="391850" indent="-391850">
              <a:buFont typeface="Wingdings" panose="05000000000000000000" pitchFamily="2" charset="2"/>
              <a:buChar char="v"/>
            </a:pPr>
            <a:r>
              <a:rPr lang="en-US" sz="2900" dirty="0">
                <a:solidFill>
                  <a:schemeClr val="tx2"/>
                </a:solidFill>
                <a:latin typeface="Helvetica" panose="020B0604020202020204" pitchFamily="34" charset="0"/>
                <a:ea typeface="Times New Roman" panose="02020603050405020304" pitchFamily="18" charset="0"/>
                <a:cs typeface="Helvetica" panose="020B0604020202020204" pitchFamily="34" charset="0"/>
              </a:rPr>
              <a:t>The peaks (110), (200), and (211) are consistent with the body-centered cubic crystal structure of Fe</a:t>
            </a:r>
            <a:r>
              <a:rPr lang="en-US" sz="2900" baseline="-25000" dirty="0">
                <a:solidFill>
                  <a:schemeClr val="tx2"/>
                </a:solidFill>
                <a:latin typeface="Helvetica" panose="020B0604020202020204" pitchFamily="34" charset="0"/>
                <a:ea typeface="Times New Roman" panose="02020603050405020304" pitchFamily="18" charset="0"/>
                <a:cs typeface="Helvetica" panose="020B0604020202020204" pitchFamily="34" charset="0"/>
              </a:rPr>
              <a:t>3</a:t>
            </a:r>
            <a:r>
              <a:rPr lang="en-US" sz="2900" dirty="0">
                <a:solidFill>
                  <a:schemeClr val="tx2"/>
                </a:solidFill>
                <a:latin typeface="Helvetica" panose="020B0604020202020204" pitchFamily="34" charset="0"/>
                <a:ea typeface="Times New Roman" panose="02020603050405020304" pitchFamily="18" charset="0"/>
                <a:cs typeface="Helvetica" panose="020B0604020202020204" pitchFamily="34" charset="0"/>
              </a:rPr>
              <a:t>Si.</a:t>
            </a:r>
          </a:p>
          <a:p>
            <a:pPr marL="391850" indent="-391850">
              <a:buFont typeface="Wingdings" panose="05000000000000000000" pitchFamily="2" charset="2"/>
              <a:buChar char="v"/>
            </a:pPr>
            <a:endParaRPr lang="en-US" sz="2900" dirty="0">
              <a:solidFill>
                <a:schemeClr val="tx2"/>
              </a:solidFill>
              <a:latin typeface="Helvetica" panose="020B0604020202020204" pitchFamily="34" charset="0"/>
              <a:ea typeface="Times New Roman" panose="02020603050405020304" pitchFamily="18" charset="0"/>
              <a:cs typeface="Helvetica" panose="020B0604020202020204" pitchFamily="34" charset="0"/>
            </a:endParaRPr>
          </a:p>
          <a:p>
            <a:pPr marL="391850" indent="-391850">
              <a:buFont typeface="Wingdings" panose="05000000000000000000" pitchFamily="2" charset="2"/>
              <a:buChar char="v"/>
            </a:pP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In x = 0 and 0.5, extra peaks to the left of peak (110) appear, signifying some sort of additional phase.</a:t>
            </a:r>
          </a:p>
        </p:txBody>
      </p:sp>
      <p:pic>
        <p:nvPicPr>
          <p:cNvPr id="14" name="Picture 13"/>
          <p:cNvPicPr>
            <a:picLocks noChangeAspect="1"/>
          </p:cNvPicPr>
          <p:nvPr/>
        </p:nvPicPr>
        <p:blipFill rotWithShape="1">
          <a:blip r:embed="rId5">
            <a:extLst>
              <a:ext uri="{28A0092B-C50C-407E-A947-70E740481C1C}">
                <a14:useLocalDpi xmlns:a14="http://schemas.microsoft.com/office/drawing/2010/main" val="0"/>
              </a:ext>
            </a:extLst>
          </a:blip>
          <a:srcRect t="8682"/>
          <a:stretch/>
        </p:blipFill>
        <p:spPr>
          <a:xfrm>
            <a:off x="11555875" y="19142558"/>
            <a:ext cx="10084515" cy="7047035"/>
          </a:xfrm>
          <a:prstGeom prst="rect">
            <a:avLst/>
          </a:prstGeom>
        </p:spPr>
      </p:pic>
      <p:sp>
        <p:nvSpPr>
          <p:cNvPr id="37" name="TextBox 36">
            <a:extLst>
              <a:ext uri="{FF2B5EF4-FFF2-40B4-BE49-F238E27FC236}">
                <a16:creationId xmlns:a16="http://schemas.microsoft.com/office/drawing/2014/main" id="{2997C3D7-02E0-48A4-ADFD-9FB47B4D9230}"/>
              </a:ext>
            </a:extLst>
          </p:cNvPr>
          <p:cNvSpPr txBox="1"/>
          <p:nvPr/>
        </p:nvSpPr>
        <p:spPr>
          <a:xfrm>
            <a:off x="11296551" y="15520588"/>
            <a:ext cx="10243210" cy="2769989"/>
          </a:xfrm>
          <a:prstGeom prst="rect">
            <a:avLst/>
          </a:prstGeom>
          <a:noFill/>
        </p:spPr>
        <p:txBody>
          <a:bodyPr wrap="square" numCol="1" rtlCol="0">
            <a:spAutoFit/>
          </a:bodyPr>
          <a:lstStyle/>
          <a:p>
            <a:pPr marL="391850" indent="-391850">
              <a:buFont typeface="Wingdings" panose="05000000000000000000" pitchFamily="2" charset="2"/>
              <a:buChar char="v"/>
            </a:pP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All alloys in the series demonstrate small hysteresis loops, making coercivity and remanence difficult to accurately determine.</a:t>
            </a:r>
          </a:p>
          <a:p>
            <a:pPr marL="391850" indent="-391850">
              <a:buFont typeface="Wingdings" panose="05000000000000000000" pitchFamily="2" charset="2"/>
              <a:buChar char="v"/>
            </a:pPr>
            <a:endPar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endParaRPr>
          </a:p>
          <a:p>
            <a:pPr marL="391850" indent="-391850">
              <a:buFont typeface="Wingdings" panose="05000000000000000000" pitchFamily="2" charset="2"/>
              <a:buChar char="v"/>
            </a:pP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x = 0 (Z = Ga) shows the highest saturation magnetization, </a:t>
            </a:r>
            <a:b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b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while x = 3 (Z = Si) has the lowest.</a:t>
            </a:r>
          </a:p>
        </p:txBody>
      </p:sp>
      <p:sp>
        <p:nvSpPr>
          <p:cNvPr id="38" name="TextBox 37">
            <a:extLst>
              <a:ext uri="{FF2B5EF4-FFF2-40B4-BE49-F238E27FC236}">
                <a16:creationId xmlns:a16="http://schemas.microsoft.com/office/drawing/2014/main" id="{2997C3D7-02E0-48A4-ADFD-9FB47B4D9230}"/>
              </a:ext>
            </a:extLst>
          </p:cNvPr>
          <p:cNvSpPr txBox="1"/>
          <p:nvPr/>
        </p:nvSpPr>
        <p:spPr>
          <a:xfrm>
            <a:off x="21819458" y="15633569"/>
            <a:ext cx="10022724" cy="2323713"/>
          </a:xfrm>
          <a:prstGeom prst="rect">
            <a:avLst/>
          </a:prstGeom>
          <a:noFill/>
        </p:spPr>
        <p:txBody>
          <a:bodyPr wrap="square" numCol="1" rtlCol="0">
            <a:spAutoFit/>
          </a:bodyPr>
          <a:lstStyle/>
          <a:p>
            <a:pPr marL="391850" indent="-391850">
              <a:buFont typeface="Wingdings" panose="05000000000000000000" pitchFamily="2" charset="2"/>
              <a:buChar char="v"/>
            </a:pP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The saturation magnetization is larger for Z = Ga, as compared to Z = Si for all compositions.</a:t>
            </a:r>
          </a:p>
          <a:p>
            <a:pPr marL="391850" indent="-391850">
              <a:buFont typeface="Wingdings" panose="05000000000000000000" pitchFamily="2" charset="2"/>
              <a:buChar char="v"/>
            </a:pPr>
            <a:endPar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endParaRPr>
          </a:p>
          <a:p>
            <a:pPr marL="391850" indent="-391850">
              <a:buFont typeface="Wingdings" panose="05000000000000000000" pitchFamily="2" charset="2"/>
              <a:buChar char="v"/>
            </a:pP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x = 2 (Z = Ga) shows the highest slope (permeability), while x = 2.5 has the smallest.</a:t>
            </a:r>
          </a:p>
        </p:txBody>
      </p:sp>
      <p:sp>
        <p:nvSpPr>
          <p:cNvPr id="39" name="TextBox 38">
            <a:extLst>
              <a:ext uri="{FF2B5EF4-FFF2-40B4-BE49-F238E27FC236}">
                <a16:creationId xmlns:a16="http://schemas.microsoft.com/office/drawing/2014/main" id="{2997C3D7-02E0-48A4-ADFD-9FB47B4D9230}"/>
              </a:ext>
            </a:extLst>
          </p:cNvPr>
          <p:cNvSpPr txBox="1"/>
          <p:nvPr/>
        </p:nvSpPr>
        <p:spPr>
          <a:xfrm>
            <a:off x="11285075" y="27251904"/>
            <a:ext cx="10557152" cy="5001369"/>
          </a:xfrm>
          <a:prstGeom prst="rect">
            <a:avLst/>
          </a:prstGeom>
          <a:noFill/>
        </p:spPr>
        <p:txBody>
          <a:bodyPr wrap="square" numCol="1" rtlCol="0">
            <a:spAutoFit/>
          </a:bodyPr>
          <a:lstStyle/>
          <a:p>
            <a:pPr marL="391850" indent="-391850">
              <a:buFont typeface="Wingdings" panose="05000000000000000000" pitchFamily="2" charset="2"/>
              <a:buChar char="v"/>
            </a:pP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The alloy with Z = Si demonstrates transitions at </a:t>
            </a:r>
            <a:b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b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temperatures of roughly 500 K and 675 K.</a:t>
            </a:r>
          </a:p>
          <a:p>
            <a:pPr marL="391850" indent="-391850">
              <a:buFont typeface="Wingdings" panose="05000000000000000000" pitchFamily="2" charset="2"/>
              <a:buChar char="v"/>
            </a:pPr>
            <a:endPar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endParaRPr>
          </a:p>
          <a:p>
            <a:pPr marL="391850" indent="-391850">
              <a:buFont typeface="Wingdings" panose="05000000000000000000" pitchFamily="2" charset="2"/>
              <a:buChar char="v"/>
            </a:pP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In x = 3, the same transition can be seen at 500 K, but </a:t>
            </a:r>
            <a:b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b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the transition at 675 K does not appear.</a:t>
            </a:r>
          </a:p>
          <a:p>
            <a:pPr marL="391850" indent="-391850">
              <a:buFont typeface="Wingdings" panose="05000000000000000000" pitchFamily="2" charset="2"/>
              <a:buChar char="v"/>
            </a:pPr>
            <a:endPar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endParaRPr>
          </a:p>
          <a:p>
            <a:pPr marL="391850" indent="-391850">
              <a:buFont typeface="Wingdings" panose="05000000000000000000" pitchFamily="2" charset="2"/>
              <a:buChar char="v"/>
            </a:pP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For both materials, the Curie Temperature appears to </a:t>
            </a:r>
            <a:b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b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be at roughly 900 K.</a:t>
            </a:r>
          </a:p>
          <a:p>
            <a:pPr marL="391850" indent="-391850">
              <a:buFont typeface="Wingdings" panose="05000000000000000000" pitchFamily="2" charset="2"/>
              <a:buChar char="v"/>
            </a:pPr>
            <a:endPar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endParaRPr>
          </a:p>
          <a:p>
            <a:pPr marL="391850" indent="-391850">
              <a:buFont typeface="Wingdings" panose="05000000000000000000" pitchFamily="2" charset="2"/>
              <a:buChar char="v"/>
            </a:pP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The observed high Curie Temperature is likely due to Iron-Silicon phases other than the expected Fe</a:t>
            </a:r>
            <a:r>
              <a:rPr lang="en-US" sz="2900" baseline="-25000" dirty="0">
                <a:solidFill>
                  <a:schemeClr val="tx2"/>
                </a:solidFill>
                <a:latin typeface="Helvetica" panose="020B0604020202020204" pitchFamily="34" charset="0"/>
                <a:ea typeface="Calibri" panose="020F0502020204030204" pitchFamily="34" charset="0"/>
                <a:cs typeface="Helvetica" panose="020B0604020202020204" pitchFamily="34" charset="0"/>
              </a:rPr>
              <a:t>3</a:t>
            </a: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Si.</a:t>
            </a:r>
          </a:p>
        </p:txBody>
      </p:sp>
      <p:sp>
        <p:nvSpPr>
          <p:cNvPr id="41" name="TextBox 40">
            <a:extLst>
              <a:ext uri="{FF2B5EF4-FFF2-40B4-BE49-F238E27FC236}">
                <a16:creationId xmlns:a16="http://schemas.microsoft.com/office/drawing/2014/main" id="{2997C3D7-02E0-48A4-ADFD-9FB47B4D9230}"/>
              </a:ext>
            </a:extLst>
          </p:cNvPr>
          <p:cNvSpPr txBox="1"/>
          <p:nvPr/>
        </p:nvSpPr>
        <p:spPr>
          <a:xfrm>
            <a:off x="21539761" y="27414426"/>
            <a:ext cx="10557152" cy="3662541"/>
          </a:xfrm>
          <a:prstGeom prst="rect">
            <a:avLst/>
          </a:prstGeom>
          <a:noFill/>
        </p:spPr>
        <p:txBody>
          <a:bodyPr wrap="square" numCol="1" rtlCol="0">
            <a:spAutoFit/>
          </a:bodyPr>
          <a:lstStyle/>
          <a:p>
            <a:pPr marL="391850" indent="-391850">
              <a:buFont typeface="Wingdings" panose="05000000000000000000" pitchFamily="2" charset="2"/>
              <a:buChar char="v"/>
            </a:pP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As x increases, a decrease in saturation magnetization appears.</a:t>
            </a:r>
          </a:p>
          <a:p>
            <a:pPr marL="391850" indent="-391850">
              <a:buFont typeface="Wingdings" panose="05000000000000000000" pitchFamily="2" charset="2"/>
              <a:buChar char="v"/>
            </a:pPr>
            <a:endPar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endParaRPr>
          </a:p>
          <a:p>
            <a:pPr marL="391850" indent="-391850">
              <a:buFont typeface="Wingdings" panose="05000000000000000000" pitchFamily="2" charset="2"/>
              <a:buChar char="v"/>
            </a:pP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Permeability does not seem to show any particular trend </a:t>
            </a:r>
            <a:b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b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with x.</a:t>
            </a:r>
          </a:p>
          <a:p>
            <a:pPr marL="391850" indent="-391850">
              <a:buFont typeface="Wingdings" panose="05000000000000000000" pitchFamily="2" charset="2"/>
              <a:buChar char="v"/>
            </a:pPr>
            <a:endPar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endParaRPr>
          </a:p>
          <a:p>
            <a:pPr marL="391850" indent="-391850">
              <a:buFont typeface="Wingdings" panose="05000000000000000000" pitchFamily="2" charset="2"/>
              <a:buChar char="v"/>
            </a:pPr>
            <a:r>
              <a:rPr lang="en-US" sz="2900" dirty="0">
                <a:solidFill>
                  <a:schemeClr val="tx2"/>
                </a:solidFill>
                <a:latin typeface="Helvetica" panose="020B0604020202020204" pitchFamily="34" charset="0"/>
                <a:ea typeface="Calibri" panose="020F0502020204030204" pitchFamily="34" charset="0"/>
                <a:cs typeface="Helvetica" panose="020B0604020202020204" pitchFamily="34" charset="0"/>
              </a:rPr>
              <a:t>These values are likely to deviate to some extent from amorphous and nanocrystalline alloys.</a:t>
            </a:r>
          </a:p>
        </p:txBody>
      </p:sp>
      <p:pic>
        <p:nvPicPr>
          <p:cNvPr id="8" name="Picture 7">
            <a:extLst>
              <a:ext uri="{FF2B5EF4-FFF2-40B4-BE49-F238E27FC236}">
                <a16:creationId xmlns:a16="http://schemas.microsoft.com/office/drawing/2014/main" id="{A9507919-F5EA-9841-5FB3-0BF742C2B938}"/>
              </a:ext>
            </a:extLst>
          </p:cNvPr>
          <p:cNvPicPr>
            <a:picLocks noChangeAspect="1"/>
          </p:cNvPicPr>
          <p:nvPr/>
        </p:nvPicPr>
        <p:blipFill rotWithShape="1">
          <a:blip r:embed="rId6">
            <a:extLst>
              <a:ext uri="{28A0092B-C50C-407E-A947-70E740481C1C}">
                <a14:useLocalDpi xmlns:a14="http://schemas.microsoft.com/office/drawing/2010/main" val="0"/>
              </a:ext>
            </a:extLst>
          </a:blip>
          <a:srcRect t="3570"/>
          <a:stretch/>
        </p:blipFill>
        <p:spPr>
          <a:xfrm>
            <a:off x="21819458" y="19146399"/>
            <a:ext cx="9551769" cy="7048408"/>
          </a:xfrm>
          <a:prstGeom prst="rect">
            <a:avLst/>
          </a:prstGeom>
        </p:spPr>
      </p:pic>
      <p:pic>
        <p:nvPicPr>
          <p:cNvPr id="11" name="Picture 10">
            <a:extLst>
              <a:ext uri="{FF2B5EF4-FFF2-40B4-BE49-F238E27FC236}">
                <a16:creationId xmlns:a16="http://schemas.microsoft.com/office/drawing/2014/main" id="{8116AA8D-4894-26D5-0D69-C4913B0F37A8}"/>
              </a:ext>
            </a:extLst>
          </p:cNvPr>
          <p:cNvPicPr>
            <a:picLocks noChangeAspect="1"/>
          </p:cNvPicPr>
          <p:nvPr/>
        </p:nvPicPr>
        <p:blipFill>
          <a:blip r:embed="rId7"/>
          <a:stretch>
            <a:fillRect/>
          </a:stretch>
        </p:blipFill>
        <p:spPr>
          <a:xfrm>
            <a:off x="11555875" y="7019197"/>
            <a:ext cx="9802388" cy="7502667"/>
          </a:xfrm>
          <a:prstGeom prst="rect">
            <a:avLst/>
          </a:prstGeom>
        </p:spPr>
      </p:pic>
      <p:sp>
        <p:nvSpPr>
          <p:cNvPr id="12" name="TextBox 11">
            <a:extLst>
              <a:ext uri="{FF2B5EF4-FFF2-40B4-BE49-F238E27FC236}">
                <a16:creationId xmlns:a16="http://schemas.microsoft.com/office/drawing/2014/main" id="{F4D540A8-05C9-7511-A715-1EBE1C8A4756}"/>
              </a:ext>
            </a:extLst>
          </p:cNvPr>
          <p:cNvSpPr txBox="1"/>
          <p:nvPr/>
        </p:nvSpPr>
        <p:spPr>
          <a:xfrm>
            <a:off x="25209278" y="19954647"/>
            <a:ext cx="1040670" cy="584775"/>
          </a:xfrm>
          <a:prstGeom prst="rect">
            <a:avLst/>
          </a:prstGeom>
          <a:noFill/>
        </p:spPr>
        <p:txBody>
          <a:bodyPr wrap="none" rtlCol="0">
            <a:spAutoFit/>
          </a:bodyPr>
          <a:lstStyle/>
          <a:p>
            <a:r>
              <a:rPr lang="en-US" sz="3200" dirty="0">
                <a:solidFill>
                  <a:srgbClr val="000610"/>
                </a:solidFill>
                <a:latin typeface="Arial" panose="020B0604020202020204" pitchFamily="34" charset="0"/>
                <a:cs typeface="Arial" panose="020B0604020202020204" pitchFamily="34" charset="0"/>
              </a:rPr>
              <a:t>Z=Si</a:t>
            </a:r>
          </a:p>
        </p:txBody>
      </p:sp>
      <p:sp>
        <p:nvSpPr>
          <p:cNvPr id="17" name="TextBox 16">
            <a:extLst>
              <a:ext uri="{FF2B5EF4-FFF2-40B4-BE49-F238E27FC236}">
                <a16:creationId xmlns:a16="http://schemas.microsoft.com/office/drawing/2014/main" id="{DD8794C4-5C4A-B3DF-28FD-4C4C1159E046}"/>
              </a:ext>
            </a:extLst>
          </p:cNvPr>
          <p:cNvSpPr txBox="1"/>
          <p:nvPr/>
        </p:nvSpPr>
        <p:spPr>
          <a:xfrm>
            <a:off x="16598132" y="19899058"/>
            <a:ext cx="1040670" cy="584775"/>
          </a:xfrm>
          <a:prstGeom prst="rect">
            <a:avLst/>
          </a:prstGeom>
          <a:noFill/>
        </p:spPr>
        <p:txBody>
          <a:bodyPr wrap="none" rtlCol="0">
            <a:spAutoFit/>
          </a:bodyPr>
          <a:lstStyle/>
          <a:p>
            <a:r>
              <a:rPr lang="en-US" sz="3200" dirty="0">
                <a:solidFill>
                  <a:srgbClr val="000610"/>
                </a:solidFill>
                <a:latin typeface="Arial" panose="020B0604020202020204" pitchFamily="34" charset="0"/>
                <a:cs typeface="Arial" panose="020B0604020202020204" pitchFamily="34" charset="0"/>
              </a:rPr>
              <a:t>Z=Si</a:t>
            </a:r>
          </a:p>
        </p:txBody>
      </p:sp>
      <p:sp>
        <p:nvSpPr>
          <p:cNvPr id="20" name="TextBox 19">
            <a:extLst>
              <a:ext uri="{FF2B5EF4-FFF2-40B4-BE49-F238E27FC236}">
                <a16:creationId xmlns:a16="http://schemas.microsoft.com/office/drawing/2014/main" id="{D3E60C6B-74B8-240A-E025-3DF8F2575C5B}"/>
              </a:ext>
            </a:extLst>
          </p:cNvPr>
          <p:cNvSpPr txBox="1"/>
          <p:nvPr/>
        </p:nvSpPr>
        <p:spPr>
          <a:xfrm>
            <a:off x="34389603" y="6577780"/>
            <a:ext cx="1040670" cy="584775"/>
          </a:xfrm>
          <a:prstGeom prst="rect">
            <a:avLst/>
          </a:prstGeom>
          <a:noFill/>
        </p:spPr>
        <p:txBody>
          <a:bodyPr wrap="none" rtlCol="0">
            <a:spAutoFit/>
          </a:bodyPr>
          <a:lstStyle/>
          <a:p>
            <a:r>
              <a:rPr lang="en-US" sz="3200" dirty="0">
                <a:solidFill>
                  <a:srgbClr val="000610"/>
                </a:solidFill>
                <a:latin typeface="Arial" panose="020B0604020202020204" pitchFamily="34" charset="0"/>
                <a:cs typeface="Arial" panose="020B0604020202020204" pitchFamily="34" charset="0"/>
              </a:rPr>
              <a:t>Z=Si</a:t>
            </a:r>
          </a:p>
        </p:txBody>
      </p:sp>
      <p:pic>
        <p:nvPicPr>
          <p:cNvPr id="56" name="Picture 55">
            <a:extLst>
              <a:ext uri="{FF2B5EF4-FFF2-40B4-BE49-F238E27FC236}">
                <a16:creationId xmlns:a16="http://schemas.microsoft.com/office/drawing/2014/main" id="{307A2E6E-B63E-D697-03EE-4676987C9A39}"/>
              </a:ext>
            </a:extLst>
          </p:cNvPr>
          <p:cNvPicPr>
            <a:picLocks noChangeAspect="1"/>
          </p:cNvPicPr>
          <p:nvPr/>
        </p:nvPicPr>
        <p:blipFill>
          <a:blip r:embed="rId8"/>
          <a:stretch>
            <a:fillRect/>
          </a:stretch>
        </p:blipFill>
        <p:spPr>
          <a:xfrm>
            <a:off x="21493644" y="6984138"/>
            <a:ext cx="9802388" cy="7502667"/>
          </a:xfrm>
          <a:prstGeom prst="rect">
            <a:avLst/>
          </a:prstGeom>
        </p:spPr>
      </p:pic>
      <p:sp>
        <p:nvSpPr>
          <p:cNvPr id="9" name="TextBox 8">
            <a:extLst>
              <a:ext uri="{FF2B5EF4-FFF2-40B4-BE49-F238E27FC236}">
                <a16:creationId xmlns:a16="http://schemas.microsoft.com/office/drawing/2014/main" id="{F9429EB9-D119-DE17-A783-3BC48BA18CCF}"/>
              </a:ext>
            </a:extLst>
          </p:cNvPr>
          <p:cNvSpPr txBox="1"/>
          <p:nvPr/>
        </p:nvSpPr>
        <p:spPr>
          <a:xfrm>
            <a:off x="25028139" y="7187291"/>
            <a:ext cx="1221809" cy="584775"/>
          </a:xfrm>
          <a:prstGeom prst="rect">
            <a:avLst/>
          </a:prstGeom>
          <a:noFill/>
        </p:spPr>
        <p:txBody>
          <a:bodyPr wrap="none" rtlCol="0">
            <a:spAutoFit/>
          </a:bodyPr>
          <a:lstStyle/>
          <a:p>
            <a:r>
              <a:rPr lang="en-US" sz="3200" dirty="0">
                <a:solidFill>
                  <a:srgbClr val="000610"/>
                </a:solidFill>
                <a:latin typeface="Arial" panose="020B0604020202020204" pitchFamily="34" charset="0"/>
                <a:cs typeface="Arial" panose="020B0604020202020204" pitchFamily="34" charset="0"/>
              </a:rPr>
              <a:t>Z=Ga</a:t>
            </a:r>
          </a:p>
        </p:txBody>
      </p:sp>
    </p:spTree>
    <p:extLst>
      <p:ext uri="{BB962C8B-B14F-4D97-AF65-F5344CB8AC3E}">
        <p14:creationId xmlns:p14="http://schemas.microsoft.com/office/powerpoint/2010/main" val="4184155320"/>
      </p:ext>
    </p:extLst>
  </p:cSld>
  <p:clrMapOvr>
    <a:masterClrMapping/>
  </p:clrMapOvr>
</p:sld>
</file>

<file path=ppt/theme/theme1.xml><?xml version="1.0" encoding="utf-8"?>
<a:theme xmlns:a="http://schemas.openxmlformats.org/drawingml/2006/main" name="Poster Theme">
  <a:themeElements>
    <a:clrScheme name="Custom 2">
      <a:dk1>
        <a:srgbClr val="0A4A8D"/>
      </a:dk1>
      <a:lt1>
        <a:srgbClr val="FFFFFF"/>
      </a:lt1>
      <a:dk2>
        <a:srgbClr val="01122B"/>
      </a:dk2>
      <a:lt2>
        <a:srgbClr val="FFDC18"/>
      </a:lt2>
      <a:accent1>
        <a:srgbClr val="01122B"/>
      </a:accent1>
      <a:accent2>
        <a:srgbClr val="103E75"/>
      </a:accent2>
      <a:accent3>
        <a:srgbClr val="0A4A8D"/>
      </a:accent3>
      <a:accent4>
        <a:srgbClr val="C6D2E2"/>
      </a:accent4>
      <a:accent5>
        <a:srgbClr val="CCA127"/>
      </a:accent5>
      <a:accent6>
        <a:srgbClr val="FFDC18"/>
      </a:accent6>
      <a:hlink>
        <a:srgbClr val="0A4A8D"/>
      </a:hlink>
      <a:folHlink>
        <a:srgbClr val="CCA127"/>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ster Theme" id="{E1ACAD36-A258-40B7-A548-DBA30D4A7C48}" vid="{F06C45D5-6A52-4E48-AD31-8F20E85558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Poster Theme</Template>
  <TotalTime>8511</TotalTime>
  <Words>827</Words>
  <Application>Microsoft Macintosh PowerPoint</Application>
  <PresentationFormat>Custom</PresentationFormat>
  <Paragraphs>68</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Helvetica</vt:lpstr>
      <vt:lpstr>Times New Roman</vt:lpstr>
      <vt:lpstr>Wingdings</vt:lpstr>
      <vt:lpstr>Poster Theme</vt:lpstr>
      <vt:lpstr>Compositional design of soft magnetic Fe73.5Nb3Cu1Z13.5+x B9-x (Z = Si, Ga) alloys for energy applications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Cole</dc:creator>
  <cp:lastModifiedBy>Kharel, Parashu</cp:lastModifiedBy>
  <cp:revision>308</cp:revision>
  <dcterms:created xsi:type="dcterms:W3CDTF">2018-07-12T16:37:43Z</dcterms:created>
  <dcterms:modified xsi:type="dcterms:W3CDTF">2024-03-27T15:53:56Z</dcterms:modified>
</cp:coreProperties>
</file>