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2" r:id="rId2"/>
    <p:sldId id="263" r:id="rId3"/>
    <p:sldId id="264" r:id="rId4"/>
    <p:sldId id="274" r:id="rId5"/>
    <p:sldId id="267" r:id="rId6"/>
    <p:sldId id="275" r:id="rId7"/>
    <p:sldId id="270" r:id="rId8"/>
    <p:sldId id="276" r:id="rId9"/>
    <p:sldId id="278" r:id="rId10"/>
    <p:sldId id="269" r:id="rId11"/>
    <p:sldId id="272" r:id="rId12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87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4" autoAdjust="0"/>
    <p:restoredTop sz="70704" autoAdjust="0"/>
  </p:normalViewPr>
  <p:slideViewPr>
    <p:cSldViewPr snapToGrid="0">
      <p:cViewPr varScale="1">
        <p:scale>
          <a:sx n="85" d="100"/>
          <a:sy n="85" d="100"/>
        </p:scale>
        <p:origin x="145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F26E9750-DF92-47F3-A0B3-FB8AFBFB7567}" type="datetimeFigureOut">
              <a:rPr lang="en-US" smtClean="0"/>
              <a:t>3/5/23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F74C28D3-CD96-4E45-B07C-A8446D1DA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8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4C28D3-CD96-4E45-B07C-A8446D1DA0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84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C28D3-CD96-4E45-B07C-A8446D1DA0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11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C28D3-CD96-4E45-B07C-A8446D1DA0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69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C28D3-CD96-4E45-B07C-A8446D1DA0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91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C28D3-CD96-4E45-B07C-A8446D1DA0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22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C28D3-CD96-4E45-B07C-A8446D1DA0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28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C28D3-CD96-4E45-B07C-A8446D1DA0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28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C28D3-CD96-4E45-B07C-A8446D1DA0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44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C28D3-CD96-4E45-B07C-A8446D1DA0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6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C28D3-CD96-4E45-B07C-A8446D1DA0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44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C28D3-CD96-4E45-B07C-A8446D1DA0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22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48245"/>
            <a:ext cx="10515600" cy="224028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54659"/>
            <a:ext cx="10515600" cy="1143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50" baseline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4" y="5443883"/>
            <a:ext cx="3560847" cy="110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73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084483"/>
            <a:ext cx="11125200" cy="914400"/>
          </a:xfrm>
        </p:spPr>
        <p:txBody>
          <a:bodyPr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0"/>
          </p:nvPr>
        </p:nvSpPr>
        <p:spPr>
          <a:xfrm>
            <a:off x="1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1"/>
          </p:nvPr>
        </p:nvSpPr>
        <p:spPr>
          <a:xfrm>
            <a:off x="4084320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2"/>
          </p:nvPr>
        </p:nvSpPr>
        <p:spPr>
          <a:xfrm>
            <a:off x="8168640" y="1"/>
            <a:ext cx="4023360" cy="4745736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6043123"/>
            <a:ext cx="11125200" cy="5715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cap="all" spc="50" baseline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689" y="5882913"/>
            <a:ext cx="2863014" cy="89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63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3999" y="6601556"/>
            <a:ext cx="6491381" cy="228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87908" y="6601556"/>
            <a:ext cx="1534064" cy="228600"/>
          </a:xfrm>
          <a:prstGeom prst="rect">
            <a:avLst/>
          </a:prstGeom>
        </p:spPr>
        <p:txBody>
          <a:bodyPr/>
          <a:lstStyle/>
          <a:p>
            <a:fld id="{BD2192C7-266E-4842-B655-C1510580F7A9}" type="datetimeFigureOut">
              <a:rPr lang="en-US" smtClean="0"/>
              <a:t>3/5/23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4499" y="6601556"/>
            <a:ext cx="773502" cy="228600"/>
          </a:xfrm>
          <a:prstGeom prst="rect">
            <a:avLst/>
          </a:prstGeom>
        </p:spPr>
        <p:txBody>
          <a:bodyPr/>
          <a:lstStyle/>
          <a:p>
            <a:fld id="{1BA69DBD-6F99-4699-87CC-ED1FAFEFE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0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483427"/>
            <a:ext cx="10515600" cy="2743200"/>
          </a:xfrm>
        </p:spPr>
        <p:txBody>
          <a:bodyPr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35025" y="5257800"/>
            <a:ext cx="105156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 strike="noStrike" cap="all" spc="50" baseline="0">
                <a:solidFill>
                  <a:schemeClr val="bg1"/>
                </a:solidFill>
                <a:effectLst/>
              </a:defRPr>
            </a:lvl1pPr>
            <a:lvl2pPr marL="365760" indent="0" algn="ctr">
              <a:buNone/>
              <a:defRPr sz="2000" cap="all" spc="50" baseline="0">
                <a:solidFill>
                  <a:schemeClr val="bg1"/>
                </a:solidFill>
              </a:defRPr>
            </a:lvl2pPr>
            <a:lvl3pPr algn="ctr">
              <a:defRPr sz="2000" cap="all" spc="50" baseline="0">
                <a:solidFill>
                  <a:schemeClr val="bg1"/>
                </a:solidFill>
              </a:defRPr>
            </a:lvl3pPr>
            <a:lvl4pPr algn="ctr">
              <a:defRPr sz="2000" cap="all" spc="50" baseline="0">
                <a:solidFill>
                  <a:schemeClr val="bg1"/>
                </a:solidFill>
              </a:defRPr>
            </a:lvl4pPr>
            <a:lvl5pPr algn="ctr">
              <a:defRPr sz="2000" cap="all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66" y="5715000"/>
            <a:ext cx="3306898" cy="103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6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714500"/>
            <a:ext cx="4495800" cy="446227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14500"/>
            <a:ext cx="4495800" cy="446227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68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733162"/>
            <a:ext cx="4498848" cy="685800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481943"/>
            <a:ext cx="4498848" cy="369025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33162"/>
            <a:ext cx="4498848" cy="685800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81943"/>
            <a:ext cx="4498848" cy="369025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80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523999" y="6601556"/>
            <a:ext cx="6491381" cy="228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87908" y="6601556"/>
            <a:ext cx="1534064" cy="228600"/>
          </a:xfrm>
          <a:prstGeom prst="rect">
            <a:avLst/>
          </a:prstGeom>
        </p:spPr>
        <p:txBody>
          <a:bodyPr/>
          <a:lstStyle/>
          <a:p>
            <a:fld id="{BD2192C7-266E-4842-B655-C1510580F7A9}" type="datetimeFigureOut">
              <a:rPr lang="en-US" smtClean="0"/>
              <a:t>3/5/23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894499" y="6601556"/>
            <a:ext cx="773502" cy="228600"/>
          </a:xfrm>
          <a:prstGeom prst="rect">
            <a:avLst/>
          </a:prstGeom>
        </p:spPr>
        <p:txBody>
          <a:bodyPr/>
          <a:lstStyle/>
          <a:p>
            <a:fld id="{1BA69DBD-6F99-4699-87CC-ED1FAFEFE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52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1812" y="1672934"/>
            <a:ext cx="3506788" cy="288036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2" y="457200"/>
            <a:ext cx="7242111" cy="5715000"/>
          </a:xfrm>
        </p:spPr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51812" y="4590288"/>
            <a:ext cx="3514564" cy="1581912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24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582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813" y="1683327"/>
            <a:ext cx="3125787" cy="287726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0"/>
            <a:ext cx="8101584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32813" y="4591761"/>
            <a:ext cx="3125787" cy="1580440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2400" b="1">
                <a:solidFill>
                  <a:schemeClr val="bg1"/>
                </a:solidFill>
                <a:effectLst/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6100797"/>
            <a:ext cx="2354179" cy="73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0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3999" y="6601556"/>
            <a:ext cx="6491381" cy="228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87908" y="6601556"/>
            <a:ext cx="1534064" cy="228600"/>
          </a:xfrm>
          <a:prstGeom prst="rect">
            <a:avLst/>
          </a:prstGeom>
        </p:spPr>
        <p:txBody>
          <a:bodyPr/>
          <a:lstStyle/>
          <a:p>
            <a:fld id="{BD2192C7-266E-4842-B655-C1510580F7A9}" type="datetimeFigureOut">
              <a:rPr lang="en-US" smtClean="0"/>
              <a:t>3/5/23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4499" y="6601556"/>
            <a:ext cx="773502" cy="228600"/>
          </a:xfrm>
          <a:prstGeom prst="rect">
            <a:avLst/>
          </a:prstGeom>
        </p:spPr>
        <p:txBody>
          <a:bodyPr/>
          <a:lstStyle/>
          <a:p>
            <a:fld id="{1BA69DBD-6F99-4699-87CC-ED1FAFEFE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8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200"/>
            <a:ext cx="1943100" cy="5719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200"/>
            <a:ext cx="7048500" cy="5719762"/>
          </a:xfrm>
        </p:spPr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3999" y="6601556"/>
            <a:ext cx="6491381" cy="228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87908" y="6601556"/>
            <a:ext cx="1534064" cy="228600"/>
          </a:xfrm>
          <a:prstGeom prst="rect">
            <a:avLst/>
          </a:prstGeom>
        </p:spPr>
        <p:txBody>
          <a:bodyPr/>
          <a:lstStyle/>
          <a:p>
            <a:fld id="{BD2192C7-266E-4842-B655-C1510580F7A9}" type="datetimeFigureOut">
              <a:rPr lang="en-US" smtClean="0"/>
              <a:t>3/5/23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4499" y="6601556"/>
            <a:ext cx="773502" cy="228600"/>
          </a:xfrm>
          <a:prstGeom prst="rect">
            <a:avLst/>
          </a:prstGeom>
        </p:spPr>
        <p:txBody>
          <a:bodyPr/>
          <a:lstStyle/>
          <a:p>
            <a:fld id="{1BA69DBD-6F99-4699-87CC-ED1FAFEFE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0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714500"/>
            <a:ext cx="914400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8363"/>
            <a:ext cx="1924802" cy="59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7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5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1887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50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4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45855B-88A3-2E4E-8EBB-555F309B9049}"/>
              </a:ext>
            </a:extLst>
          </p:cNvPr>
          <p:cNvSpPr/>
          <p:nvPr/>
        </p:nvSpPr>
        <p:spPr>
          <a:xfrm>
            <a:off x="284813" y="407607"/>
            <a:ext cx="11587397" cy="7078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of </a:t>
            </a:r>
            <a:r>
              <a:rPr lang="en-US" sz="40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MnBi</a:t>
            </a:r>
            <a:r>
              <a:rPr lang="en-US" sz="4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Composite Magnets</a:t>
            </a:r>
            <a:endParaRPr lang="en-US" sz="40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50F9BC-EB85-C54F-A456-12AC8DE56F5D}"/>
              </a:ext>
            </a:extLst>
          </p:cNvPr>
          <p:cNvSpPr/>
          <p:nvPr/>
        </p:nvSpPr>
        <p:spPr>
          <a:xfrm>
            <a:off x="134911" y="1738739"/>
            <a:ext cx="11887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Parashu</a:t>
            </a:r>
            <a:r>
              <a:rPr 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Kharel</a:t>
            </a:r>
            <a:r>
              <a:rPr lang="en-US" sz="2000" b="1" u="sng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Gavin Baker</a:t>
            </a:r>
            <a:r>
              <a:rPr lang="en-US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Manish Neupane</a:t>
            </a:r>
            <a:r>
              <a:rPr lang="en-US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and Tula R Paudel</a:t>
            </a:r>
            <a:r>
              <a:rPr lang="en-US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</a:p>
          <a:p>
            <a:pPr algn="ctr"/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Department of Physics, South Dakota State University, Brookings, SD 57007, USA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Department of Physics, South Dakota School of Mines and Technology, Rapid City, SD 57701, USA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074" name="Picture 2" descr="2018 NASA EPSCoR Research and Travel Opportunities - SD EPSCoR">
            <a:extLst>
              <a:ext uri="{FF2B5EF4-FFF2-40B4-BE49-F238E27FC236}">
                <a16:creationId xmlns:a16="http://schemas.microsoft.com/office/drawing/2014/main" id="{DDE73079-7F96-5841-AC70-1C48FBC46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765" y="4581161"/>
            <a:ext cx="2514600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outh Dakota School of Mines and Technology - Home | Facebook">
            <a:extLst>
              <a:ext uri="{FF2B5EF4-FFF2-40B4-BE49-F238E27FC236}">
                <a16:creationId xmlns:a16="http://schemas.microsoft.com/office/drawing/2014/main" id="{DFB55A18-DB5F-0046-88BC-ACB25C844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315" y="4581161"/>
            <a:ext cx="1005840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01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BB7691-B09F-6446-A64B-7F8F835511EB}"/>
              </a:ext>
            </a:extLst>
          </p:cNvPr>
          <p:cNvSpPr txBox="1"/>
          <p:nvPr/>
        </p:nvSpPr>
        <p:spPr>
          <a:xfrm>
            <a:off x="4601979" y="181097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2E35C8-A403-D043-8651-73082D6B7A6F}"/>
              </a:ext>
            </a:extLst>
          </p:cNvPr>
          <p:cNvCxnSpPr>
            <a:cxnSpLocks/>
          </p:cNvCxnSpPr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76200" cmpd="thinThick">
            <a:solidFill>
              <a:schemeClr val="accent4">
                <a:alpha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17F25E9-9A99-FE48-B2A8-1C7029112251}"/>
              </a:ext>
            </a:extLst>
          </p:cNvPr>
          <p:cNvSpPr txBox="1"/>
          <p:nvPr/>
        </p:nvSpPr>
        <p:spPr>
          <a:xfrm>
            <a:off x="457200" y="1457790"/>
            <a:ext cx="11415010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and 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baseline="-25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59306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D9A08D-6139-FC47-BC0D-BC07A70321F3}"/>
              </a:ext>
            </a:extLst>
          </p:cNvPr>
          <p:cNvSpPr/>
          <p:nvPr/>
        </p:nvSpPr>
        <p:spPr>
          <a:xfrm>
            <a:off x="3402924" y="126388"/>
            <a:ext cx="639021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Background</a:t>
            </a:r>
            <a:endParaRPr lang="en-US" sz="4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523BEE-FA69-6D45-9311-041FB23509CB}"/>
              </a:ext>
            </a:extLst>
          </p:cNvPr>
          <p:cNvCxnSpPr>
            <a:cxnSpLocks/>
          </p:cNvCxnSpPr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76200" cmpd="thinThick">
            <a:solidFill>
              <a:schemeClr val="accent4">
                <a:alpha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1D70CC-C35F-F34B-BC97-8DC98E917C5B}"/>
              </a:ext>
            </a:extLst>
          </p:cNvPr>
          <p:cNvSpPr txBox="1"/>
          <p:nvPr/>
        </p:nvSpPr>
        <p:spPr>
          <a:xfrm>
            <a:off x="242880" y="1198025"/>
            <a:ext cx="1175862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permanent magnetic materials are critical for modern technology including high-density recording, medical equipment, wind generators, and energy-efficient cars.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 most promising candidates of permanent magnets at present are the Dy-added Nd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magnets.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promising candidates of rare-earth-free, low-cost permanent magnets: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MnBi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Mn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Ga,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FeNi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(Fe, Co)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B, YCo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HfCo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MnBi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a special advantage: The magnetic anisotropy increases with the increasing temperature reaching a maximum value of about 22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Mergs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/cm</a:t>
            </a:r>
            <a:r>
              <a:rPr lang="en-US" sz="2000" b="1" baseline="30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590 K .</a:t>
            </a:r>
          </a:p>
          <a:p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Low magnetization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residual Bi in the sample and poor corrosion stability of LTP phase are some issues with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MnBi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magnet.</a:t>
            </a:r>
          </a:p>
          <a:p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goal is to improve the magnetization of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MnBi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making its composite with Fe particles.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77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6B7399-0755-8C4E-89FE-055734C55E39}"/>
              </a:ext>
            </a:extLst>
          </p:cNvPr>
          <p:cNvSpPr/>
          <p:nvPr/>
        </p:nvSpPr>
        <p:spPr>
          <a:xfrm>
            <a:off x="4125734" y="126388"/>
            <a:ext cx="20954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en-US" sz="4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63F13A-6A4F-1546-9F67-2A638BD187DD}"/>
              </a:ext>
            </a:extLst>
          </p:cNvPr>
          <p:cNvCxnSpPr>
            <a:cxnSpLocks/>
          </p:cNvCxnSpPr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76200" cmpd="thinThick">
            <a:solidFill>
              <a:schemeClr val="accent4">
                <a:alpha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19527C-2CF2-464B-9403-E55E7873A3F9}"/>
              </a:ext>
            </a:extLst>
          </p:cNvPr>
          <p:cNvSpPr txBox="1"/>
          <p:nvPr/>
        </p:nvSpPr>
        <p:spPr>
          <a:xfrm>
            <a:off x="243622" y="1409304"/>
            <a:ext cx="117185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Ingots of Mn</a:t>
            </a:r>
            <a:r>
              <a:rPr lang="en-US" sz="2400" b="1" baseline="-25000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2400" b="1" baseline="-25000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and Mn</a:t>
            </a:r>
            <a:r>
              <a:rPr lang="en-US" sz="2400" b="1" baseline="-25000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2400" b="1" baseline="-25000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baseline="-25000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synthesized using arc-melting under an argon atmosphere followed by vacuum annealing (400 °C for 8 hours). 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400" b="1" dirty="0">
              <a:solidFill>
                <a:srgbClr val="0030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composite samples were made by mixing </a:t>
            </a:r>
            <a:r>
              <a:rPr lang="en-US" sz="2400" b="1" dirty="0">
                <a:solidFill>
                  <a:srgbClr val="003087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crushed powder of </a:t>
            </a:r>
            <a:r>
              <a:rPr lang="en-US" sz="2400" b="1" dirty="0" err="1">
                <a:solidFill>
                  <a:srgbClr val="003087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Mn</a:t>
            </a:r>
            <a:r>
              <a:rPr lang="en-US" sz="2400" b="1" dirty="0" err="1">
                <a:solidFill>
                  <a:srgbClr val="003087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</a:t>
            </a:r>
            <a:r>
              <a:rPr lang="en-US" sz="2400" b="1" dirty="0">
                <a:solidFill>
                  <a:srgbClr val="003087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commercially available Fe nanoparticles, using mortar and pastel (about 15 minutes).</a:t>
            </a:r>
            <a:r>
              <a:rPr lang="en-US" sz="2400" b="1" dirty="0">
                <a:solidFill>
                  <a:srgbClr val="00308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400" b="1" dirty="0">
              <a:solidFill>
                <a:srgbClr val="0030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crystal structure and magnetic properties were studied using x-ray diffraction and </a:t>
            </a:r>
            <a:r>
              <a:rPr lang="en-US" sz="2400" b="1" dirty="0" err="1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VersaLab</a:t>
            </a: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magnetometer.</a:t>
            </a:r>
          </a:p>
        </p:txBody>
      </p:sp>
    </p:spTree>
    <p:extLst>
      <p:ext uri="{BB962C8B-B14F-4D97-AF65-F5344CB8AC3E}">
        <p14:creationId xmlns:p14="http://schemas.microsoft.com/office/powerpoint/2010/main" val="142475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7DE8C5C-D3A3-B54B-8CF1-61AAE3869905}"/>
              </a:ext>
            </a:extLst>
          </p:cNvPr>
          <p:cNvSpPr/>
          <p:nvPr/>
        </p:nvSpPr>
        <p:spPr>
          <a:xfrm>
            <a:off x="3357952" y="111398"/>
            <a:ext cx="40386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Crystal Structure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60273A-8896-344A-B683-EE087087C39D}"/>
              </a:ext>
            </a:extLst>
          </p:cNvPr>
          <p:cNvCxnSpPr>
            <a:cxnSpLocks/>
          </p:cNvCxnSpPr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76200" cmpd="thinThick">
            <a:solidFill>
              <a:schemeClr val="accent4">
                <a:alpha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art&#10;&#10;Description automatically generated with medium confidence">
            <a:extLst>
              <a:ext uri="{FF2B5EF4-FFF2-40B4-BE49-F238E27FC236}">
                <a16:creationId xmlns:a16="http://schemas.microsoft.com/office/drawing/2014/main" id="{B3497BEE-9370-AF45-A9FD-47CB78C04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75" y="1006839"/>
            <a:ext cx="4167965" cy="3657600"/>
          </a:xfrm>
          <a:prstGeom prst="rect">
            <a:avLst/>
          </a:prstGeom>
        </p:spPr>
      </p:pic>
      <p:pic>
        <p:nvPicPr>
          <p:cNvPr id="11" name="Picture 10" descr="Chart&#10;&#10;Description automatically generated">
            <a:extLst>
              <a:ext uri="{FF2B5EF4-FFF2-40B4-BE49-F238E27FC236}">
                <a16:creationId xmlns:a16="http://schemas.microsoft.com/office/drawing/2014/main" id="{EADA6DB4-4CA7-FE49-94AA-9E0DAC4CF5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357" y="999968"/>
            <a:ext cx="4202654" cy="36576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0AB4CF-4B2F-A642-B2DD-41F7786083C4}"/>
              </a:ext>
            </a:extLst>
          </p:cNvPr>
          <p:cNvSpPr txBox="1"/>
          <p:nvPr/>
        </p:nvSpPr>
        <p:spPr>
          <a:xfrm>
            <a:off x="442911" y="5018893"/>
            <a:ext cx="9542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Mn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Mn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samples show hexagonal </a:t>
            </a:r>
            <a:r>
              <a:rPr lang="e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NiAs</a:t>
            </a:r>
            <a:r>
              <a:rPr lang="e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-type structure (LTP).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9A6C4-5660-7F45-ADEC-5D125978BB27}"/>
              </a:ext>
            </a:extLst>
          </p:cNvPr>
          <p:cNvSpPr/>
          <p:nvPr/>
        </p:nvSpPr>
        <p:spPr>
          <a:xfrm>
            <a:off x="2041751" y="1745320"/>
            <a:ext cx="1417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Bi = 16 wt.%</a:t>
            </a:r>
            <a:endParaRPr lang="en-US" dirty="0">
              <a:solidFill>
                <a:schemeClr val="accent4"/>
              </a:solidFill>
              <a:highlight>
                <a:srgbClr val="FFFF00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9BA46A-79B8-C141-A787-C67434B4D43F}"/>
              </a:ext>
            </a:extLst>
          </p:cNvPr>
          <p:cNvSpPr/>
          <p:nvPr/>
        </p:nvSpPr>
        <p:spPr>
          <a:xfrm>
            <a:off x="9104621" y="1747820"/>
            <a:ext cx="1301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Bi = 5 wt.%</a:t>
            </a:r>
            <a:endParaRPr lang="en-US" dirty="0">
              <a:solidFill>
                <a:schemeClr val="accent4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8BB58-48B9-E8C5-A524-97E79BAF1B07}"/>
              </a:ext>
            </a:extLst>
          </p:cNvPr>
          <p:cNvSpPr txBox="1"/>
          <p:nvPr/>
        </p:nvSpPr>
        <p:spPr>
          <a:xfrm>
            <a:off x="6970425" y="5811393"/>
            <a:ext cx="4902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US" sz="14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Kharel</a:t>
            </a:r>
            <a:r>
              <a:rPr lang="en-US" sz="1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 al., </a:t>
            </a:r>
            <a:r>
              <a:rPr lang="en-US" sz="1400" b="1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J. Phys. D: Appl. Phys. 55, 265003(2022).</a:t>
            </a:r>
            <a:r>
              <a:rPr lang="en-US" sz="1400" b="1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group of balloons&#10;&#10;Description automatically generated with low confidence">
            <a:extLst>
              <a:ext uri="{FF2B5EF4-FFF2-40B4-BE49-F238E27FC236}">
                <a16:creationId xmlns:a16="http://schemas.microsoft.com/office/drawing/2014/main" id="{1F47847F-3BA7-7B0D-7602-F766B04E4F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585" y="1108133"/>
            <a:ext cx="2664135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48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0DB065-7F7A-814D-A517-84797F01D0CF}"/>
              </a:ext>
            </a:extLst>
          </p:cNvPr>
          <p:cNvSpPr/>
          <p:nvPr/>
        </p:nvSpPr>
        <p:spPr>
          <a:xfrm>
            <a:off x="1843948" y="111398"/>
            <a:ext cx="80990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Properties of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MnBi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M(H)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9900B5-D7CF-DB46-BD0D-E3EEB37E28C2}"/>
              </a:ext>
            </a:extLst>
          </p:cNvPr>
          <p:cNvCxnSpPr>
            <a:cxnSpLocks/>
          </p:cNvCxnSpPr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76200" cmpd="thinThick">
            <a:solidFill>
              <a:schemeClr val="accent4">
                <a:alpha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1F34927F-DF09-E31D-718D-443CDDA71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07" y="1557478"/>
            <a:ext cx="5195951" cy="42062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1696541-5653-875C-2E98-043073E5CF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3611169"/>
                  </p:ext>
                </p:extLst>
              </p:nvPr>
            </p:nvGraphicFramePr>
            <p:xfrm>
              <a:off x="5855110" y="2105998"/>
              <a:ext cx="6135329" cy="1406652"/>
            </p:xfrm>
            <a:graphic>
              <a:graphicData uri="http://schemas.openxmlformats.org/drawingml/2006/table">
                <a:tbl>
                  <a:tblPr>
                    <a:tableStyleId>{C4B1156A-380E-4F78-BDF5-A606A8083BF9}</a:tableStyleId>
                  </a:tblPr>
                  <a:tblGrid>
                    <a:gridCol w="2507225">
                      <a:extLst>
                        <a:ext uri="{9D8B030D-6E8A-4147-A177-3AD203B41FA5}">
                          <a16:colId xmlns:a16="http://schemas.microsoft.com/office/drawing/2014/main" val="1212549988"/>
                        </a:ext>
                      </a:extLst>
                    </a:gridCol>
                    <a:gridCol w="1046033">
                      <a:extLst>
                        <a:ext uri="{9D8B030D-6E8A-4147-A177-3AD203B41FA5}">
                          <a16:colId xmlns:a16="http://schemas.microsoft.com/office/drawing/2014/main" val="1842473647"/>
                        </a:ext>
                      </a:extLst>
                    </a:gridCol>
                    <a:gridCol w="904932">
                      <a:extLst>
                        <a:ext uri="{9D8B030D-6E8A-4147-A177-3AD203B41FA5}">
                          <a16:colId xmlns:a16="http://schemas.microsoft.com/office/drawing/2014/main" val="3037448858"/>
                        </a:ext>
                      </a:extLst>
                    </a:gridCol>
                    <a:gridCol w="561056">
                      <a:extLst>
                        <a:ext uri="{9D8B030D-6E8A-4147-A177-3AD203B41FA5}">
                          <a16:colId xmlns:a16="http://schemas.microsoft.com/office/drawing/2014/main" val="3746391969"/>
                        </a:ext>
                      </a:extLst>
                    </a:gridCol>
                    <a:gridCol w="1116083">
                      <a:extLst>
                        <a:ext uri="{9D8B030D-6E8A-4147-A177-3AD203B41FA5}">
                          <a16:colId xmlns:a16="http://schemas.microsoft.com/office/drawing/2014/main" val="2273546168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Samples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3T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smtClean="0">
                                  <a:effectLst/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sz="1400" b="1" i="1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1400" b="1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emu/g 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(BH)</a:t>
                          </a:r>
                          <a:r>
                            <a:rPr lang="en-US" sz="14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MGOe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sz="14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 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KOe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sz="1400" b="1" baseline="-25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/M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3T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42309460"/>
                      </a:ext>
                    </a:extLst>
                  </a:tr>
                  <a:tr h="27622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(Vac. annealed)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sz="1400" b="1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Reann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in H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+Ar)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57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7.12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7.07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590993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1696541-5653-875C-2E98-043073E5CF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3611169"/>
                  </p:ext>
                </p:extLst>
              </p:nvPr>
            </p:nvGraphicFramePr>
            <p:xfrm>
              <a:off x="5855110" y="2105998"/>
              <a:ext cx="6135329" cy="1406652"/>
            </p:xfrm>
            <a:graphic>
              <a:graphicData uri="http://schemas.openxmlformats.org/drawingml/2006/table">
                <a:tbl>
                  <a:tblPr>
                    <a:tableStyleId>{C4B1156A-380E-4F78-BDF5-A606A8083BF9}</a:tableStyleId>
                  </a:tblPr>
                  <a:tblGrid>
                    <a:gridCol w="2507225">
                      <a:extLst>
                        <a:ext uri="{9D8B030D-6E8A-4147-A177-3AD203B41FA5}">
                          <a16:colId xmlns:a16="http://schemas.microsoft.com/office/drawing/2014/main" val="1212549988"/>
                        </a:ext>
                      </a:extLst>
                    </a:gridCol>
                    <a:gridCol w="1046033">
                      <a:extLst>
                        <a:ext uri="{9D8B030D-6E8A-4147-A177-3AD203B41FA5}">
                          <a16:colId xmlns:a16="http://schemas.microsoft.com/office/drawing/2014/main" val="1842473647"/>
                        </a:ext>
                      </a:extLst>
                    </a:gridCol>
                    <a:gridCol w="904932">
                      <a:extLst>
                        <a:ext uri="{9D8B030D-6E8A-4147-A177-3AD203B41FA5}">
                          <a16:colId xmlns:a16="http://schemas.microsoft.com/office/drawing/2014/main" val="3037448858"/>
                        </a:ext>
                      </a:extLst>
                    </a:gridCol>
                    <a:gridCol w="561056">
                      <a:extLst>
                        <a:ext uri="{9D8B030D-6E8A-4147-A177-3AD203B41FA5}">
                          <a16:colId xmlns:a16="http://schemas.microsoft.com/office/drawing/2014/main" val="3746391969"/>
                        </a:ext>
                      </a:extLst>
                    </a:gridCol>
                    <a:gridCol w="1116083">
                      <a:extLst>
                        <a:ext uri="{9D8B030D-6E8A-4147-A177-3AD203B41FA5}">
                          <a16:colId xmlns:a16="http://schemas.microsoft.com/office/drawing/2014/main" val="2273546168"/>
                        </a:ext>
                      </a:extLst>
                    </a:gridCol>
                  </a:tblGrid>
                  <a:tr h="70332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Samples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42683" r="-250000" b="-1160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(BH)</a:t>
                          </a:r>
                          <a:r>
                            <a:rPr lang="en-US" sz="14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MGOe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sz="14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 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KOe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sz="14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/M</a:t>
                          </a:r>
                          <a:r>
                            <a:rPr lang="en-US" sz="14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3T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42309460"/>
                      </a:ext>
                    </a:extLst>
                  </a:tr>
                  <a:tr h="70332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(Vac. annealed)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sz="1400" b="1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Reann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in H</a:t>
                          </a:r>
                          <a:r>
                            <a:rPr lang="en-US" sz="14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+Ar)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57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7.12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7.07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en-US" sz="14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590993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32489D9-766A-3863-25ED-0429DE471E51}"/>
              </a:ext>
            </a:extLst>
          </p:cNvPr>
          <p:cNvSpPr txBox="1"/>
          <p:nvPr/>
        </p:nvSpPr>
        <p:spPr>
          <a:xfrm>
            <a:off x="5826180" y="4092316"/>
            <a:ext cx="6255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Reannealing of </a:t>
            </a:r>
            <a:r>
              <a:rPr lang="en-US" sz="2400" b="1" dirty="0" err="1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MnBi</a:t>
            </a: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powder under flow of H</a:t>
            </a:r>
            <a:r>
              <a:rPr lang="en-US" sz="2400" b="1" baseline="-25000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b="1" baseline="-25000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mixture has improved coercivity with little decrease  in magnetization.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68B9B7-E874-7260-3136-0CA01CE0B250}"/>
              </a:ext>
            </a:extLst>
          </p:cNvPr>
          <p:cNvSpPr txBox="1"/>
          <p:nvPr/>
        </p:nvSpPr>
        <p:spPr>
          <a:xfrm>
            <a:off x="5981075" y="5591330"/>
            <a:ext cx="3591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Reannealing: 350 </a:t>
            </a:r>
            <a:r>
              <a:rPr lang="en-US" sz="2000" b="1" baseline="30000" dirty="0" err="1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000" b="1" dirty="0" err="1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1 hour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0996BE-7C9D-3442-C56E-6F4908E46F54}"/>
                  </a:ext>
                </a:extLst>
              </p:cNvPr>
              <p:cNvSpPr txBox="1"/>
              <p:nvPr/>
            </p:nvSpPr>
            <p:spPr>
              <a:xfrm>
                <a:off x="6073515" y="1186716"/>
                <a:ext cx="46955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MnBi single domain diameter: ~ 0.50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𝝁</m:t>
                    </m:r>
                    <m:r>
                      <a:rPr lang="en-US" sz="20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endParaRPr lang="en-US" sz="2000" b="1" dirty="0">
                  <a:solidFill>
                    <a:srgbClr val="0432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0996BE-7C9D-3442-C56E-6F4908E46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515" y="1186716"/>
                <a:ext cx="4695516" cy="400110"/>
              </a:xfrm>
              <a:prstGeom prst="rect">
                <a:avLst/>
              </a:prstGeom>
              <a:blipFill>
                <a:blip r:embed="rId5"/>
                <a:stretch>
                  <a:fillRect l="-1348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352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2CFD96-368A-6F4D-8A11-D95F626A9183}"/>
              </a:ext>
            </a:extLst>
          </p:cNvPr>
          <p:cNvSpPr/>
          <p:nvPr/>
        </p:nvSpPr>
        <p:spPr>
          <a:xfrm>
            <a:off x="1214366" y="111398"/>
            <a:ext cx="9851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Properties of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MnBi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Fe:  M(H)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33973F-80AF-174A-85C2-C0EDCF1F6EFD}"/>
              </a:ext>
            </a:extLst>
          </p:cNvPr>
          <p:cNvCxnSpPr>
            <a:cxnSpLocks/>
          </p:cNvCxnSpPr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76200" cmpd="thinThick">
            <a:solidFill>
              <a:schemeClr val="accent4">
                <a:alpha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iagram, histogram&#10;&#10;Description automatically generated">
            <a:extLst>
              <a:ext uri="{FF2B5EF4-FFF2-40B4-BE49-F238E27FC236}">
                <a16:creationId xmlns:a16="http://schemas.microsoft.com/office/drawing/2014/main" id="{0C278154-BDC1-7708-22A7-48FAE3C20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47" y="1371600"/>
            <a:ext cx="5596474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6B0694-D931-F986-6B97-8338632CE1DA}"/>
                  </a:ext>
                </a:extLst>
              </p:cNvPr>
              <p:cNvSpPr txBox="1"/>
              <p:nvPr/>
            </p:nvSpPr>
            <p:spPr>
              <a:xfrm>
                <a:off x="6745574" y="2763271"/>
                <a:ext cx="4182256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𝑻</m:t>
                        </m:r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  <m:sSub>
                      <m:sSubPr>
                        <m:ctrlP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  <m:r>
                      <a:rPr lang="en-US" sz="2400" b="1" i="1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𝑻</m:t>
                        </m:r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𝒉</m:t>
                        </m:r>
                      </m:sub>
                    </m:sSub>
                    <m:sSub>
                      <m:sSubPr>
                        <m:ctrlP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𝒉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432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b="1" dirty="0">
                  <a:solidFill>
                    <a:srgbClr val="0432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6B0694-D931-F986-6B97-8338632CE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574" y="2763271"/>
                <a:ext cx="4182256" cy="477888"/>
              </a:xfrm>
              <a:prstGeom prst="rect">
                <a:avLst/>
              </a:prstGeom>
              <a:blipFill>
                <a:blip r:embed="rId4"/>
                <a:stretch>
                  <a:fillRect l="-606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09F3D30-EC68-05F5-BEC1-26EE2D078CCB}"/>
              </a:ext>
            </a:extLst>
          </p:cNvPr>
          <p:cNvSpPr txBox="1"/>
          <p:nvPr/>
        </p:nvSpPr>
        <p:spPr>
          <a:xfrm>
            <a:off x="6195880" y="1371600"/>
            <a:ext cx="5841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saturation magnetizations of composite samples are consistent  with the value calculated using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A2E6D-C1CE-EDAD-3E51-2C0FF8D416AD}"/>
              </a:ext>
            </a:extLst>
          </p:cNvPr>
          <p:cNvSpPr txBox="1"/>
          <p:nvPr/>
        </p:nvSpPr>
        <p:spPr>
          <a:xfrm>
            <a:off x="6195880" y="3429000"/>
            <a:ext cx="3226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Coercivity: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EC7F81-BC17-2BF8-CBF1-CE34DB94357D}"/>
                  </a:ext>
                </a:extLst>
              </p:cNvPr>
              <p:cNvSpPr txBox="1"/>
              <p:nvPr/>
            </p:nvSpPr>
            <p:spPr>
              <a:xfrm>
                <a:off x="6946490" y="4262285"/>
                <a:ext cx="3739678" cy="859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𝑪𝒊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0432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EC7F81-BC17-2BF8-CBF1-CE34DB943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490" y="4262285"/>
                <a:ext cx="3739678" cy="859210"/>
              </a:xfrm>
              <a:prstGeom prst="rect">
                <a:avLst/>
              </a:prstGeom>
              <a:blipFill>
                <a:blip r:embed="rId5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530D1CB-B06E-F9AE-C447-15F72E333B79}"/>
              </a:ext>
            </a:extLst>
          </p:cNvPr>
          <p:cNvSpPr txBox="1"/>
          <p:nvPr/>
        </p:nvSpPr>
        <p:spPr>
          <a:xfrm>
            <a:off x="7020338" y="5700709"/>
            <a:ext cx="5031752" cy="45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J. Park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al.,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Scientific reports,  7, 4960(2017). 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043DC261-6955-7487-BC24-9D37E60D2E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566" y="1668780"/>
            <a:ext cx="1275566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77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E73720-3831-D549-AE4B-67D109DC6CED}"/>
              </a:ext>
            </a:extLst>
          </p:cNvPr>
          <p:cNvCxnSpPr>
            <a:cxnSpLocks/>
          </p:cNvCxnSpPr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76200" cmpd="thinThick">
            <a:solidFill>
              <a:schemeClr val="accent4">
                <a:alpha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A92C708F-6C87-38B3-B5DD-E259E561D5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60" y="1612939"/>
            <a:ext cx="5504178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1EFEAD7-10C2-C7AB-4ECF-019BAB6A3F11}"/>
              </a:ext>
            </a:extLst>
          </p:cNvPr>
          <p:cNvSpPr/>
          <p:nvPr/>
        </p:nvSpPr>
        <p:spPr>
          <a:xfrm>
            <a:off x="2275452" y="111398"/>
            <a:ext cx="63757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30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product </a:t>
            </a:r>
            <a:r>
              <a:rPr lang="en-US" sz="4000" b="1" dirty="0">
                <a:solidFill>
                  <a:srgbClr val="00308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sz="4000" b="1" baseline="-25000" dirty="0">
                <a:solidFill>
                  <a:srgbClr val="00308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4000" b="1" dirty="0">
                <a:solidFill>
                  <a:srgbClr val="00308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4000" b="1" baseline="-25000" dirty="0">
                <a:solidFill>
                  <a:srgbClr val="00308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sz="4000" b="1" dirty="0">
                <a:solidFill>
                  <a:srgbClr val="00308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b="1" baseline="-25000" dirty="0">
                <a:solidFill>
                  <a:srgbClr val="00308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4000" b="1" dirty="0">
                <a:solidFill>
                  <a:srgbClr val="00308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baseline="-25000" dirty="0">
              <a:solidFill>
                <a:srgbClr val="0030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6762DB-DB4C-F09D-C6C8-ED5B080CCCE0}"/>
                  </a:ext>
                </a:extLst>
              </p:cNvPr>
              <p:cNvSpPr txBox="1"/>
              <p:nvPr/>
            </p:nvSpPr>
            <p:spPr>
              <a:xfrm>
                <a:off x="6189001" y="2894115"/>
                <a:ext cx="5861155" cy="120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400" b="1" dirty="0">
                    <a:solidFill>
                      <a:srgbClr val="00308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Expected (BH)</a:t>
                </a:r>
                <a:r>
                  <a:rPr lang="en-US" sz="2400" b="1" baseline="-25000" dirty="0">
                    <a:solidFill>
                      <a:srgbClr val="00308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US" sz="2400" b="1" dirty="0">
                    <a:solidFill>
                      <a:srgbClr val="00308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3087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a magnet showing an ideal square hysteresis loop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b="1" i="1">
                            <a:solidFill>
                              <a:srgbClr val="003087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b="1" i="1">
                                <a:solidFill>
                                  <a:srgbClr val="00308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solidFill>
                                  <a:srgbClr val="00308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𝑱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308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𝒔</m:t>
                            </m:r>
                          </m:sub>
                          <m:sup>
                            <m:r>
                              <a:rPr lang="en-US" sz="2400" b="1" i="1">
                                <a:solidFill>
                                  <a:srgbClr val="003087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sz="2400" b="1" i="1">
                            <a:solidFill>
                              <a:srgbClr val="003087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sz="2400" b="1" i="1">
                            <a:solidFill>
                              <a:srgbClr val="003087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rgbClr val="003087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𝟖</m:t>
                        </m:r>
                        <m:r>
                          <a:rPr lang="en-US" sz="2400" b="1" i="1" smtClean="0">
                            <a:solidFill>
                              <a:srgbClr val="003087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solidFill>
                              <a:srgbClr val="003087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𝟔</m:t>
                        </m:r>
                        <m:r>
                          <a:rPr lang="en-US" sz="2400" b="1" i="1" smtClean="0">
                            <a:solidFill>
                              <a:srgbClr val="003087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rgbClr val="003087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𝑴𝑮𝑶𝒆</m:t>
                        </m:r>
                        <m:r>
                          <a:rPr lang="en-US" sz="2400" b="1" i="1">
                            <a:solidFill>
                              <a:srgbClr val="003087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</m:den>
                    </m:f>
                  </m:oMath>
                </a14:m>
                <a:endParaRPr lang="en-US" sz="2400" b="1" dirty="0">
                  <a:solidFill>
                    <a:srgbClr val="00308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6762DB-DB4C-F09D-C6C8-ED5B080CC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001" y="2894115"/>
                <a:ext cx="5861155" cy="1208664"/>
              </a:xfrm>
              <a:prstGeom prst="rect">
                <a:avLst/>
              </a:prstGeom>
              <a:blipFill>
                <a:blip r:embed="rId4"/>
                <a:stretch>
                  <a:fillRect l="-1515" t="-4167" r="-216" b="-7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73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C01D15-628B-CE49-97FE-3692E1AE0BF9}"/>
              </a:ext>
            </a:extLst>
          </p:cNvPr>
          <p:cNvCxnSpPr>
            <a:cxnSpLocks/>
          </p:cNvCxnSpPr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76200" cmpd="thinThick">
            <a:solidFill>
              <a:schemeClr val="accent4">
                <a:alpha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608F13F-66A3-D848-1A3D-104A3B14B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4031547"/>
                  </p:ext>
                </p:extLst>
              </p:nvPr>
            </p:nvGraphicFramePr>
            <p:xfrm>
              <a:off x="224853" y="1159814"/>
              <a:ext cx="11452482" cy="444456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3483740">
                      <a:extLst>
                        <a:ext uri="{9D8B030D-6E8A-4147-A177-3AD203B41FA5}">
                          <a16:colId xmlns:a16="http://schemas.microsoft.com/office/drawing/2014/main" val="611219365"/>
                        </a:ext>
                      </a:extLst>
                    </a:gridCol>
                    <a:gridCol w="1986513">
                      <a:extLst>
                        <a:ext uri="{9D8B030D-6E8A-4147-A177-3AD203B41FA5}">
                          <a16:colId xmlns:a16="http://schemas.microsoft.com/office/drawing/2014/main" val="3880184153"/>
                        </a:ext>
                      </a:extLst>
                    </a:gridCol>
                    <a:gridCol w="1970229">
                      <a:extLst>
                        <a:ext uri="{9D8B030D-6E8A-4147-A177-3AD203B41FA5}">
                          <a16:colId xmlns:a16="http://schemas.microsoft.com/office/drawing/2014/main" val="392025246"/>
                        </a:ext>
                      </a:extLst>
                    </a:gridCol>
                    <a:gridCol w="1351482">
                      <a:extLst>
                        <a:ext uri="{9D8B030D-6E8A-4147-A177-3AD203B41FA5}">
                          <a16:colId xmlns:a16="http://schemas.microsoft.com/office/drawing/2014/main" val="2878159089"/>
                        </a:ext>
                      </a:extLst>
                    </a:gridCol>
                    <a:gridCol w="1221217">
                      <a:extLst>
                        <a:ext uri="{9D8B030D-6E8A-4147-A177-3AD203B41FA5}">
                          <a16:colId xmlns:a16="http://schemas.microsoft.com/office/drawing/2014/main" val="2068260357"/>
                        </a:ext>
                      </a:extLst>
                    </a:gridCol>
                    <a:gridCol w="1439301">
                      <a:extLst>
                        <a:ext uri="{9D8B030D-6E8A-4147-A177-3AD203B41FA5}">
                          <a16:colId xmlns:a16="http://schemas.microsoft.com/office/drawing/2014/main" val="2316282857"/>
                        </a:ext>
                      </a:extLst>
                    </a:gridCol>
                  </a:tblGrid>
                  <a:tr h="133549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Samples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3T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(measured)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smtClean="0">
                                  <a:effectLst/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1800" b="1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emu/g 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3T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(Expected)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smtClean="0">
                                  <a:effectLst/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1800" b="1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emu/g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(BH)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MGOe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 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KOe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/M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3T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65934659"/>
                      </a:ext>
                    </a:extLst>
                  </a:tr>
                  <a:tr h="92762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(vac. annealed)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kern="1200" baseline="-250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kern="1200" baseline="-250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kern="1200" baseline="-250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(reannealed in H</a:t>
                          </a:r>
                          <a:r>
                            <a:rPr lang="en-US" sz="1800" b="1" kern="1200" baseline="-250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+Ar)</a:t>
                          </a:r>
                          <a:r>
                            <a:rPr lang="en-US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57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7.12 (8.6)*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7.07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63328759"/>
                      </a:ext>
                    </a:extLst>
                  </a:tr>
                  <a:tr h="49567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Fe particles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205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38871593"/>
                      </a:ext>
                    </a:extLst>
                  </a:tr>
                  <a:tr h="50983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 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+Fe (10:0.5)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67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6.41 (11.1)*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 (10)*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16921846"/>
                      </a:ext>
                    </a:extLst>
                  </a:tr>
                  <a:tr h="368689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 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+Fe (10:1)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73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4.15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8.8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73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3300926"/>
                      </a:ext>
                    </a:extLst>
                  </a:tr>
                  <a:tr h="39654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 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+Fe (10:2)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54860017"/>
                      </a:ext>
                    </a:extLst>
                  </a:tr>
                  <a:tr h="41070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 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+C coated Fe (10:2)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74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757440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608F13F-66A3-D848-1A3D-104A3B14B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4031547"/>
                  </p:ext>
                </p:extLst>
              </p:nvPr>
            </p:nvGraphicFramePr>
            <p:xfrm>
              <a:off x="224853" y="1159814"/>
              <a:ext cx="11452482" cy="444456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3483740">
                      <a:extLst>
                        <a:ext uri="{9D8B030D-6E8A-4147-A177-3AD203B41FA5}">
                          <a16:colId xmlns:a16="http://schemas.microsoft.com/office/drawing/2014/main" val="611219365"/>
                        </a:ext>
                      </a:extLst>
                    </a:gridCol>
                    <a:gridCol w="1986513">
                      <a:extLst>
                        <a:ext uri="{9D8B030D-6E8A-4147-A177-3AD203B41FA5}">
                          <a16:colId xmlns:a16="http://schemas.microsoft.com/office/drawing/2014/main" val="3880184153"/>
                        </a:ext>
                      </a:extLst>
                    </a:gridCol>
                    <a:gridCol w="1970229">
                      <a:extLst>
                        <a:ext uri="{9D8B030D-6E8A-4147-A177-3AD203B41FA5}">
                          <a16:colId xmlns:a16="http://schemas.microsoft.com/office/drawing/2014/main" val="392025246"/>
                        </a:ext>
                      </a:extLst>
                    </a:gridCol>
                    <a:gridCol w="1351482">
                      <a:extLst>
                        <a:ext uri="{9D8B030D-6E8A-4147-A177-3AD203B41FA5}">
                          <a16:colId xmlns:a16="http://schemas.microsoft.com/office/drawing/2014/main" val="2878159089"/>
                        </a:ext>
                      </a:extLst>
                    </a:gridCol>
                    <a:gridCol w="1221217">
                      <a:extLst>
                        <a:ext uri="{9D8B030D-6E8A-4147-A177-3AD203B41FA5}">
                          <a16:colId xmlns:a16="http://schemas.microsoft.com/office/drawing/2014/main" val="2068260357"/>
                        </a:ext>
                      </a:extLst>
                    </a:gridCol>
                    <a:gridCol w="1439301">
                      <a:extLst>
                        <a:ext uri="{9D8B030D-6E8A-4147-A177-3AD203B41FA5}">
                          <a16:colId xmlns:a16="http://schemas.microsoft.com/office/drawing/2014/main" val="2316282857"/>
                        </a:ext>
                      </a:extLst>
                    </a:gridCol>
                  </a:tblGrid>
                  <a:tr h="133549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Samples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76923" t="-952" r="-303205" b="-24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76923" t="-952" r="-203205" b="-24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(BH)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MGOe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 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KOe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/M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3T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(%)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65934659"/>
                      </a:ext>
                    </a:extLst>
                  </a:tr>
                  <a:tr h="92762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(vac. annealed)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kern="1200" baseline="-250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kern="1200" baseline="-250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kern="1200" baseline="-250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(reannealed in H</a:t>
                          </a:r>
                          <a:r>
                            <a:rPr lang="en-US" sz="1800" b="1" kern="1200" baseline="-250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+Ar)</a:t>
                          </a:r>
                          <a:r>
                            <a:rPr lang="en-US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57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7.12 (8.6)*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7.07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</a:t>
                          </a: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63328759"/>
                      </a:ext>
                    </a:extLst>
                  </a:tr>
                  <a:tr h="49567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Fe particles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205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38871593"/>
                      </a:ext>
                    </a:extLst>
                  </a:tr>
                  <a:tr h="50983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 </a:t>
                          </a: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+Fe (10:0.5)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67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6.41 (11.1)*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 (10)*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16921846"/>
                      </a:ext>
                    </a:extLst>
                  </a:tr>
                  <a:tr h="368689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 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+Fe (10:1)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73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4.15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8.8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73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3300926"/>
                      </a:ext>
                    </a:extLst>
                  </a:tr>
                  <a:tr h="39654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 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+Fe (10:2)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54860017"/>
                      </a:ext>
                    </a:extLst>
                  </a:tr>
                  <a:tr h="41070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Mn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="1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 </a:t>
                          </a: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+C coated Fe (10:2)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74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8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757440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017B001-B5AB-0A38-8899-1AFEC5883D06}"/>
              </a:ext>
            </a:extLst>
          </p:cNvPr>
          <p:cNvSpPr txBox="1"/>
          <p:nvPr/>
        </p:nvSpPr>
        <p:spPr>
          <a:xfrm>
            <a:off x="5397910" y="5737126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*Expected 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9E3C3-ECEA-4B10-79DC-3639B0DC4315}"/>
              </a:ext>
            </a:extLst>
          </p:cNvPr>
          <p:cNvSpPr/>
          <p:nvPr/>
        </p:nvSpPr>
        <p:spPr>
          <a:xfrm>
            <a:off x="3223042" y="111398"/>
            <a:ext cx="71019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Properties: Summary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90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E5A266-4F0A-E540-9EF6-72B4193AEF88}"/>
              </a:ext>
            </a:extLst>
          </p:cNvPr>
          <p:cNvSpPr/>
          <p:nvPr/>
        </p:nvSpPr>
        <p:spPr>
          <a:xfrm>
            <a:off x="3762686" y="126388"/>
            <a:ext cx="28376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B7CAC5-751C-A948-9B8D-0F687699930F}"/>
              </a:ext>
            </a:extLst>
          </p:cNvPr>
          <p:cNvCxnSpPr>
            <a:cxnSpLocks/>
          </p:cNvCxnSpPr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76200" cmpd="thinThick">
            <a:solidFill>
              <a:schemeClr val="accent4">
                <a:alpha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B85CCA-61E9-0347-AE4D-94E40CBD82C5}"/>
              </a:ext>
            </a:extLst>
          </p:cNvPr>
          <p:cNvSpPr txBox="1"/>
          <p:nvPr/>
        </p:nvSpPr>
        <p:spPr>
          <a:xfrm rot="10800000" flipV="1">
            <a:off x="209863" y="952138"/>
            <a:ext cx="1179725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investigated the structural and magnetic properties of  Mn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composite of Mn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Fe nanoparticles. 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powder reannealed in a flow of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H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 mixture shows significant increase in coercivity.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composite of Mn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Fe particles showed expected increase in magnetization, but the energy product was not improved due to low </a:t>
            </a:r>
            <a:r>
              <a:rPr lang="en-US" sz="2400" b="1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1" baseline="-250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/M</a:t>
            </a:r>
            <a:r>
              <a:rPr lang="en-US" sz="2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400" b="1" baseline="-25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composite samples with Mn</a:t>
            </a:r>
            <a:r>
              <a:rPr lang="en-US" sz="2400" b="1" baseline="-250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24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2400" b="1" baseline="-250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sz="24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baseline="-250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 = 10:1 and with higher Fe concentration showed an indication of phase separation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400" b="1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further improvement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magnetization and squareness of hysteresis loop, it is possible to  develop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MnBi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rare-earth-free  permanent magnet. </a:t>
            </a:r>
            <a:endParaRPr lang="en-US" sz="2400" b="1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96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D10FB2-2A9A-9143-945A-3E1D198C2E52}"/>
              </a:ext>
            </a:extLst>
          </p:cNvPr>
          <p:cNvSpPr txBox="1"/>
          <p:nvPr/>
        </p:nvSpPr>
        <p:spPr>
          <a:xfrm>
            <a:off x="2398428" y="2923084"/>
            <a:ext cx="7406195" cy="1015663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very much! </a:t>
            </a:r>
          </a:p>
        </p:txBody>
      </p:sp>
    </p:spTree>
    <p:extLst>
      <p:ext uri="{BB962C8B-B14F-4D97-AF65-F5344CB8AC3E}">
        <p14:creationId xmlns:p14="http://schemas.microsoft.com/office/powerpoint/2010/main" val="219310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unn Template">
  <a:themeElements>
    <a:clrScheme name="Custom 6">
      <a:dk1>
        <a:sysClr val="windowText" lastClr="000000"/>
      </a:dk1>
      <a:lt1>
        <a:sysClr val="window" lastClr="FFFFFF"/>
      </a:lt1>
      <a:dk2>
        <a:srgbClr val="0033A0"/>
      </a:dk2>
      <a:lt2>
        <a:srgbClr val="FFFFFF"/>
      </a:lt2>
      <a:accent1>
        <a:srgbClr val="0033A0"/>
      </a:accent1>
      <a:accent2>
        <a:srgbClr val="FFD700"/>
      </a:accent2>
      <a:accent3>
        <a:srgbClr val="84BD00"/>
      </a:accent3>
      <a:accent4>
        <a:srgbClr val="0000FF"/>
      </a:accent4>
      <a:accent5>
        <a:srgbClr val="7C878E"/>
      </a:accent5>
      <a:accent6>
        <a:srgbClr val="0C2340"/>
      </a:accent6>
      <a:hlink>
        <a:srgbClr val="0033A0"/>
      </a:hlink>
      <a:folHlink>
        <a:srgbClr val="FFA300"/>
      </a:folHlink>
    </a:clrScheme>
    <a:fontScheme name="Custom 1">
      <a:majorFont>
        <a:latin typeface="Helvetica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DSU PPP Template_2017" id="{31B53F0E-9D1C-40FC-9BB3-7EBF213B4256}" vid="{11314852-FB83-4289-8647-3B4FBE5FD8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SDSU PPP Template_2017</Template>
  <TotalTime>2093</TotalTime>
  <Words>711</Words>
  <Application>Microsoft Macintosh PowerPoint</Application>
  <PresentationFormat>Widescreen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Garamond</vt:lpstr>
      <vt:lpstr>Helvetica</vt:lpstr>
      <vt:lpstr>Times New Roman</vt:lpstr>
      <vt:lpstr>Wingdings</vt:lpstr>
      <vt:lpstr>Dunn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Conversations</dc:title>
  <dc:creator>Dragt, Kellee</dc:creator>
  <cp:lastModifiedBy>Kharel, Parashu</cp:lastModifiedBy>
  <cp:revision>79</cp:revision>
  <cp:lastPrinted>2017-12-11T22:37:16Z</cp:lastPrinted>
  <dcterms:created xsi:type="dcterms:W3CDTF">2017-12-07T20:59:30Z</dcterms:created>
  <dcterms:modified xsi:type="dcterms:W3CDTF">2023-03-05T16:21:50Z</dcterms:modified>
</cp:coreProperties>
</file>